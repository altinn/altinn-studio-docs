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nledning" id="{204c38d7-fc31-03cc-7410-07e27b2e92f2}">
          <p14:sldIdLst>
            <p14:sldId id="256"/>
          </p14:sldIdLst>
        </p14:section>
        <p14:section name="På plass" id="{ec815319-2038-7173-9921-6e3c6968216a}">
          <p14:sldIdLst>
            <p14:sldId id="257"/>
          </p14:sldIdLst>
        </p14:section>
        <p14:section name="Hva det betyr" id="{21be486c-795b-e968-5c2c-8d8aa5adba4d}">
          <p14:sldIdLst>
            <p14:sldId id="258"/>
          </p14:sldIdLst>
        </p14:section>
        <p14:section name="Gjenstår" id="{bc42c752-17ab-2f73-779e-e5a83a266cb9}">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minutter, fire lysbilder. Vi har jobbet med å gjøre hovedrepoet klart for AI-assistert utvikling, uten å låse oss til ett verktøy. Jeg viser hva som er på plass, hva det betyr for oss i hverdagen, og hva som gjenstår. Kilde: epic #4075 i Altinn/altinn-auth.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Seks ting er på plass. Én: AGENTS.md er kartet. Det står hvordan man bygger og tester, hvor ting ligger og hva man ikke skal røre, i roten og per vertikal. CLAUDE.md og Copilot-instruksjonene peker bare dit (ADR-0002, #4077, #4078). To: ADR-er forklarer hvorfor. Fire felles, og to for Authorization, to for Access Management og én for Resource Registry (#4076, #4079). Tre: arbeidsavtalen i CONTRIBUTING.md gjelder alle, med eller uten AI: du eier det du leverer, du sier fra når en assistent har gjort mye, og vi holder PR-ene små (#4082). Datapolicyen er et utkast og gjelder ikke før Digdir sikkerhet har godkjent den (#4083). Fire: Copilot er eneste review-bot, og den er rådgivende (ADR-0003, #4085). Fem: just-oppskriftene lar både folk og agenter kjøre det CI kjører før de lager PR (#4086). Seks: en CI-vakt feiler bygget hvis veiledningen får døde lenker eller mangler eier (#4081).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Hva betyr det i praksis? Mindre tid brukt på å forklare det samme på nytt, til folk og til agenter. Kravene er de samme uansett hvordan koden ble til: forfatteren eier den, AI-review er råd, og en person godkjenner. Vi er ikke låst: alle verktøy leser AGENTS.md, så å bytte verktøy er en konfigurasjonsendring. Tallene: 44 av 97 commits på main siden 18. september har en AI-assistent som Co-authored-by. Det er et minimum, siden ikke alle verktøy legger til den linjen. For hele 2026 er det 114 av 1002 commits, fra 13 av 25 forfattere (git log på main, 13. oktober). Copilot ga 32 kommentarer i de ni første PR-ene i epicen, og 31 førte til en endring (ADR-0003). De PR-ene var dokumentasjon og konfigurasjon, så det sier lite om produktkode ennå.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ting gjenstår i epicen. Fallgruvene per vertikal kan ikke skrives av meg eller en agent. De må komme fra dere, i en workshop (#4078). Når Register, Authentication og frontend flyttes inn, trenger de en sjekkliste så veiledningen følger med (#4080). Datapolicyen må godkjennes av Digdir sikkerhet før den gjelder, og der fyller vi ut listen over godkjente verktøy (#4083). Spor C, AI i prosjektstyring, er parkert til spor A og B er ferdige (#4102). Labels og issue-modellen tar vi i en egen epic (#4354, ADR-0004). Små ting som står åpne: macOS og Linux for just-oppskriftene (#4086), PR-beskrivelser (#4084) og lukking av #4085. Det jeg trenger fra dere: les AGENTS.md for vertikalen deres, ta med en fallgruve til workshopen, og si fra når en assistent gjør noe dumt.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69494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611880"/>
            <a:ext cx="6949440" cy="914400"/>
          </a:xfrm>
          <a:prstGeom prst="rect">
            <a:avLst/>
          </a:prstGeom>
          <a:noFill/>
          <a:ln/>
        </p:spPr>
        <p:txBody>
          <a:bodyPr wrap="square" rtlCol="0"/>
          <a:lstStyle>
            <a:lvl1pPr algn="l" indent="0" marL="0">
              <a:buNone/>
              <a:defRPr lang="en-US" sz="2200" dirty="0">
                <a:solidFill>
                  <a:schemeClr val="accent4"/>
                </a:solidFill>
              </a:defRPr>
            </a:lvl1pPr>
          </a:lstStyle>
          <a:p>
            <a:pPr algn="l" indent="0" marL="0">
              <a:buNone/>
            </a:pPr>
            <a:endParaRPr lang="en-US" sz="2200" dirty="0"/>
          </a:p>
        </p:txBody>
      </p:sp>
      <p:sp>
        <p:nvSpPr>
          <p:cNvPr id="4" name="Text 0"/>
          <p:cNvSpPr/>
          <p:nvPr>
            <p:ph idx="102" type="body" hasCustomPrompt="1"/>
          </p:nvPr>
        </p:nvSpPr>
        <p:spPr>
          <a:xfrm>
            <a:off x="548640" y="5806440"/>
            <a:ext cx="6949440" cy="41148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chemeClr val="accent5"/>
                </a:solidFill>
              </a:rPr>
              <a:t>altinn-auth · Epic #4075</a:t>
            </a:r>
            <a:endParaRPr lang="en-US" sz="1100" dirty="0"/>
          </a:p>
        </p:txBody>
      </p:sp>
      <p:sp>
        <p:nvSpPr>
          <p:cNvPr id="3" name="Text 1"/>
          <p:cNvSpPr/>
          <p:nvPr>
            <p:ph idx="101" type="title" hasCustomPrompt="1"/>
          </p:nvPr>
        </p:nvSpPr>
        <p:spPr>
          <a:xfrm>
            <a:off x="548640" y="411480"/>
            <a:ext cx="11094415" cy="82296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6949440" cy="1737360"/>
          </a:xfrm>
          <a:prstGeom prst="rect">
            <a:avLst/>
          </a:prstGeom>
          <a:noFill/>
          <a:ln/>
        </p:spPr>
        <p:txBody>
          <a:bodyPr wrap="square" lIns="0" tIns="0" rIns="0" bIns="0" rtlCol="0" anchor="b"/>
          <a:lstStyle/>
          <a:p>
            <a:pPr algn="l" indent="0" marL="0">
              <a:buNone/>
            </a:pPr>
            <a:r>
              <a:rPr lang="nb-NO" altLang="en-US" sz="4400" b="1" dirty="0">
                <a:solidFill>
                  <a:schemeClr val="bg1"/>
                </a:solidFill>
              </a:rPr>
              <a:t>AI-klar utvikling i altinn-auth</a:t>
            </a:r>
            <a:endParaRPr lang="nb-NO" sz="4400" dirty="0"/>
          </a:p>
        </p:txBody>
      </p:sp>
      <p:sp>
        <p:nvSpPr>
          <p:cNvPr id="3" name="Text 0"/>
          <p:cNvSpPr/>
          <p:nvPr>
            <p:ph idx="101" type="body" hasCustomPrompt="1"/>
          </p:nvPr>
        </p:nvSpPr>
        <p:spPr>
          <a:xfrm>
            <a:off x="548640" y="3611880"/>
            <a:ext cx="6949440" cy="914400"/>
          </a:xfrm>
          <a:prstGeom prst="rect">
            <a:avLst/>
          </a:prstGeom>
          <a:noFill/>
          <a:ln/>
        </p:spPr>
        <p:txBody>
          <a:bodyPr wrap="square" lIns="0" tIns="0" rIns="0" bIns="0" rtlCol="0" anchor="t"/>
          <a:lstStyle/>
          <a:p>
            <a:pPr algn="l" indent="0" marL="0">
              <a:buNone/>
            </a:pPr>
            <a:r>
              <a:rPr lang="nb-NO" altLang="en-US" sz="2200" dirty="0">
                <a:solidFill>
                  <a:schemeClr val="accent4"/>
                </a:solidFill>
              </a:rPr>
              <a:t>Hva som er på plass, hva det betyr, og hva som gjenstår</a:t>
            </a:r>
            <a:endParaRPr lang="nb-NO" sz="2200" dirty="0"/>
          </a:p>
        </p:txBody>
      </p:sp>
      <p:sp>
        <p:nvSpPr>
          <p:cNvPr id="4" name="Text 0"/>
          <p:cNvSpPr/>
          <p:nvPr>
            <p:ph idx="102" type="body" hasCustomPrompt="1"/>
          </p:nvPr>
        </p:nvSpPr>
        <p:spPr>
          <a:xfrm>
            <a:off x="548640" y="5806440"/>
            <a:ext cx="6949440" cy="411480"/>
          </a:xfrm>
          <a:prstGeom prst="rect">
            <a:avLst/>
          </a:prstGeom>
          <a:noFill/>
          <a:ln/>
        </p:spPr>
        <p:txBody>
          <a:bodyPr wrap="square" lIns="0" tIns="0" rIns="0" bIns="0" rtlCol="0" anchor="ctr"/>
          <a:lstStyle/>
          <a:p>
            <a:pPr indent="0" marL="0">
              <a:buNone/>
            </a:pPr>
            <a:r>
              <a:rPr lang="nb-NO" altLang="en-US" sz="1400" dirty="0">
                <a:solidFill>
                  <a:schemeClr val="accent4"/>
                </a:solidFill>
              </a:rPr>
              <a:t>Statusmøte 14. oktober 2026 · Epic #4075</a:t>
            </a:r>
            <a:endParaRPr lang="nb-NO" sz="1400" dirty="0"/>
          </a:p>
        </p:txBody>
      </p:sp>
      <p:sp>
        <p:nvSpPr>
          <p:cNvPr id="5" name="Title motif 1 circle"/>
          <p:cNvSpPr/>
          <p:nvPr/>
        </p:nvSpPr>
        <p:spPr>
          <a:xfrm>
            <a:off x="8549640" y="1600200"/>
            <a:ext cx="1325880" cy="1325880"/>
          </a:xfrm>
          <a:prstGeom prst="ellipse">
            <a:avLst/>
          </a:prstGeom>
          <a:solidFill>
            <a:schemeClr val="accent1"/>
          </a:solidFill>
          <a:ln w="12700">
            <a:solidFill>
              <a:schemeClr val="accent1"/>
            </a:solidFill>
            <a:prstDash val="solid"/>
          </a:ln>
        </p:spPr>
      </p:sp>
      <p:pic>
        <p:nvPicPr>
          <p:cNvPr id="6" name="Title motif 1 icon" descr="preencoded.png">    </p:cNvPr>
          <p:cNvPicPr>
            <a:picLocks noChangeAspect="1"/>
          </p:cNvPicPr>
          <p:nvPr/>
        </p:nvPicPr>
        <p:blipFill>
          <a:blip r:embed="rId1"/>
          <a:stretch>
            <a:fillRect/>
          </a:stretch>
        </p:blipFill>
        <p:spPr>
          <a:xfrm>
            <a:off x="8867851" y="1918411"/>
            <a:ext cx="689458" cy="689458"/>
          </a:xfrm>
          <a:prstGeom prst="rect">
            <a:avLst/>
          </a:prstGeom>
        </p:spPr>
      </p:pic>
      <p:sp>
        <p:nvSpPr>
          <p:cNvPr id="7" name="Title motif 2 circle"/>
          <p:cNvSpPr/>
          <p:nvPr/>
        </p:nvSpPr>
        <p:spPr>
          <a:xfrm>
            <a:off x="9966960" y="2788920"/>
            <a:ext cx="1325880" cy="1325880"/>
          </a:xfrm>
          <a:prstGeom prst="ellipse">
            <a:avLst/>
          </a:prstGeom>
          <a:solidFill>
            <a:schemeClr val="accent2"/>
          </a:solidFill>
          <a:ln w="12700">
            <a:solidFill>
              <a:schemeClr val="accent2"/>
            </a:solidFill>
            <a:prstDash val="solid"/>
          </a:ln>
        </p:spPr>
      </p:sp>
      <p:pic>
        <p:nvPicPr>
          <p:cNvPr id="8" name="Title motif 2 icon" descr="preencoded.png">    </p:cNvPr>
          <p:cNvPicPr>
            <a:picLocks noChangeAspect="1"/>
          </p:cNvPicPr>
          <p:nvPr/>
        </p:nvPicPr>
        <p:blipFill>
          <a:blip r:embed="rId2"/>
          <a:stretch>
            <a:fillRect/>
          </a:stretch>
        </p:blipFill>
        <p:spPr>
          <a:xfrm>
            <a:off x="10285171" y="3107131"/>
            <a:ext cx="689458" cy="689458"/>
          </a:xfrm>
          <a:prstGeom prst="rect">
            <a:avLst/>
          </a:prstGeom>
        </p:spPr>
      </p:pic>
      <p:sp>
        <p:nvSpPr>
          <p:cNvPr id="9" name="Title motif 3 circle"/>
          <p:cNvSpPr/>
          <p:nvPr/>
        </p:nvSpPr>
        <p:spPr>
          <a:xfrm>
            <a:off x="8549640" y="3977640"/>
            <a:ext cx="1325880" cy="1325880"/>
          </a:xfrm>
          <a:prstGeom prst="ellipse">
            <a:avLst/>
          </a:prstGeom>
          <a:solidFill>
            <a:schemeClr val="accent3"/>
          </a:solidFill>
          <a:ln w="12700">
            <a:solidFill>
              <a:schemeClr val="accent3"/>
            </a:solidFill>
            <a:prstDash val="solid"/>
          </a:ln>
        </p:spPr>
      </p:sp>
      <p:pic>
        <p:nvPicPr>
          <p:cNvPr id="10" name="Title motif 3 icon" descr="preencoded.png">    </p:cNvPr>
          <p:cNvPicPr>
            <a:picLocks noChangeAspect="1"/>
          </p:cNvPicPr>
          <p:nvPr/>
        </p:nvPicPr>
        <p:blipFill>
          <a:blip r:embed="rId3"/>
          <a:stretch>
            <a:fillRect/>
          </a:stretch>
        </p:blipFill>
        <p:spPr>
          <a:xfrm>
            <a:off x="8867851" y="4295851"/>
            <a:ext cx="689458" cy="6894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nb-NO" altLang="en-US" sz="3600" b="1" dirty="0">
                <a:solidFill>
                  <a:schemeClr val="tx1"/>
                </a:solidFill>
              </a:rPr>
              <a:t>Dette er på plass i hovedrepoet</a:t>
            </a:r>
            <a:endParaRPr lang="nb-NO" sz="3600" dirty="0"/>
          </a:p>
        </p:txBody>
      </p:sp>
      <p:sp>
        <p:nvSpPr>
          <p:cNvPr id="3" name="Card 1"/>
          <p:cNvSpPr/>
          <p:nvPr/>
        </p:nvSpPr>
        <p:spPr>
          <a:xfrm>
            <a:off x="548640" y="1508760"/>
            <a:ext cx="3520440" cy="2148840"/>
          </a:xfrm>
          <a:prstGeom prst="roundRect">
            <a:avLst>
              <a:gd name="adj" fmla="val 5106"/>
            </a:avLst>
          </a:prstGeom>
          <a:solidFill>
            <a:schemeClr val="bg2"/>
          </a:solidFill>
          <a:ln w="12700">
            <a:solidFill>
              <a:schemeClr val="bg2"/>
            </a:solidFill>
            <a:prstDash val="solid"/>
          </a:ln>
        </p:spPr>
      </p:sp>
      <p:sp>
        <p:nvSpPr>
          <p:cNvPr id="4" name="Card 1 circle"/>
          <p:cNvSpPr/>
          <p:nvPr/>
        </p:nvSpPr>
        <p:spPr>
          <a:xfrm>
            <a:off x="822960" y="1783080"/>
            <a:ext cx="640080" cy="640080"/>
          </a:xfrm>
          <a:prstGeom prst="ellipse">
            <a:avLst/>
          </a:prstGeom>
          <a:solidFill>
            <a:schemeClr val="accent2"/>
          </a:solidFill>
          <a:ln w="12700">
            <a:solidFill>
              <a:schemeClr val="accent2"/>
            </a:solidFill>
            <a:prstDash val="solid"/>
          </a:ln>
        </p:spPr>
      </p:sp>
      <p:pic>
        <p:nvPicPr>
          <p:cNvPr id="5" name="Card 1 icon" descr="preencoded.png">    </p:cNvPr>
          <p:cNvPicPr>
            <a:picLocks noChangeAspect="1"/>
          </p:cNvPicPr>
          <p:nvPr/>
        </p:nvPicPr>
        <p:blipFill>
          <a:blip r:embed="rId1"/>
          <a:stretch>
            <a:fillRect/>
          </a:stretch>
        </p:blipFill>
        <p:spPr>
          <a:xfrm>
            <a:off x="976579" y="1936699"/>
            <a:ext cx="332842" cy="332842"/>
          </a:xfrm>
          <a:prstGeom prst="rect">
            <a:avLst/>
          </a:prstGeom>
        </p:spPr>
      </p:pic>
      <p:sp>
        <p:nvSpPr>
          <p:cNvPr id="6" name="Card 1 title"/>
          <p:cNvSpPr txBox="1"/>
          <p:nvPr/>
        </p:nvSpPr>
        <p:spPr>
          <a:xfrm>
            <a:off x="1600200" y="1783080"/>
            <a:ext cx="2240280" cy="640080"/>
          </a:xfrm>
          <a:prstGeom prst="rect">
            <a:avLst/>
          </a:prstGeom>
          <a:noFill/>
          <a:ln/>
        </p:spPr>
        <p:txBody>
          <a:bodyPr wrap="square" lIns="0" tIns="0" rIns="0" bIns="0" rtlCol="0" anchor="ctr"/>
          <a:lstStyle/>
          <a:p>
            <a:pPr indent="0" marL="0">
              <a:buNone/>
            </a:pPr>
            <a:r>
              <a:rPr lang="nb-NO" altLang="en-US" sz="1800" b="1" dirty="0">
                <a:solidFill>
                  <a:schemeClr val="tx1"/>
                </a:solidFill>
              </a:rPr>
              <a:t>Ett felles kart</a:t>
            </a:r>
            <a:endParaRPr lang="nb-NO" sz="1800" dirty="0"/>
          </a:p>
        </p:txBody>
      </p:sp>
      <p:sp>
        <p:nvSpPr>
          <p:cNvPr id="7" name="Card 1 text"/>
          <p:cNvSpPr txBox="1"/>
          <p:nvPr/>
        </p:nvSpPr>
        <p:spPr>
          <a:xfrm>
            <a:off x="822960" y="2560320"/>
            <a:ext cx="2971800" cy="914400"/>
          </a:xfrm>
          <a:prstGeom prst="rect">
            <a:avLst/>
          </a:prstGeom>
          <a:noFill/>
          <a:ln/>
        </p:spPr>
        <p:txBody>
          <a:bodyPr wrap="square" lIns="0" tIns="0" rIns="0" bIns="0" rtlCol="0" anchor="t"/>
          <a:lstStyle/>
          <a:p>
            <a:pPr indent="0" marL="0">
              <a:buNone/>
            </a:pPr>
            <a:r>
              <a:rPr lang="nb-NO" altLang="en-US" sz="1400" dirty="0">
                <a:solidFill>
                  <a:schemeClr val="tx1"/>
                </a:solidFill>
              </a:rPr>
              <a:t>AGENTS.md i roten og i Authorization, Access Management og Resource Registry. Claude, Copilot og Codex leser samme fil.</a:t>
            </a:r>
            <a:endParaRPr lang="nb-NO" sz="1400" dirty="0"/>
          </a:p>
        </p:txBody>
      </p:sp>
      <p:sp>
        <p:nvSpPr>
          <p:cNvPr id="8" name="Card 2"/>
          <p:cNvSpPr/>
          <p:nvPr/>
        </p:nvSpPr>
        <p:spPr>
          <a:xfrm>
            <a:off x="4343400" y="1508760"/>
            <a:ext cx="3520440" cy="2148840"/>
          </a:xfrm>
          <a:prstGeom prst="roundRect">
            <a:avLst>
              <a:gd name="adj" fmla="val 5106"/>
            </a:avLst>
          </a:prstGeom>
          <a:solidFill>
            <a:schemeClr val="bg2"/>
          </a:solidFill>
          <a:ln w="12700">
            <a:solidFill>
              <a:schemeClr val="bg2"/>
            </a:solidFill>
            <a:prstDash val="solid"/>
          </a:ln>
        </p:spPr>
      </p:sp>
      <p:sp>
        <p:nvSpPr>
          <p:cNvPr id="9" name="Card 2 circle"/>
          <p:cNvSpPr/>
          <p:nvPr/>
        </p:nvSpPr>
        <p:spPr>
          <a:xfrm>
            <a:off x="4617720" y="1783080"/>
            <a:ext cx="640080" cy="640080"/>
          </a:xfrm>
          <a:prstGeom prst="ellipse">
            <a:avLst/>
          </a:prstGeom>
          <a:solidFill>
            <a:schemeClr val="accent2"/>
          </a:solidFill>
          <a:ln w="12700">
            <a:solidFill>
              <a:schemeClr val="accent2"/>
            </a:solidFill>
            <a:prstDash val="solid"/>
          </a:ln>
        </p:spPr>
      </p:sp>
      <p:pic>
        <p:nvPicPr>
          <p:cNvPr id="10" name="Card 2 icon" descr="preencoded.png">    </p:cNvPr>
          <p:cNvPicPr>
            <a:picLocks noChangeAspect="1"/>
          </p:cNvPicPr>
          <p:nvPr/>
        </p:nvPicPr>
        <p:blipFill>
          <a:blip r:embed="rId2"/>
          <a:stretch>
            <a:fillRect/>
          </a:stretch>
        </p:blipFill>
        <p:spPr>
          <a:xfrm>
            <a:off x="4771339" y="1936699"/>
            <a:ext cx="332842" cy="332842"/>
          </a:xfrm>
          <a:prstGeom prst="rect">
            <a:avLst/>
          </a:prstGeom>
        </p:spPr>
      </p:pic>
      <p:sp>
        <p:nvSpPr>
          <p:cNvPr id="11" name="Card 2 title"/>
          <p:cNvSpPr txBox="1"/>
          <p:nvPr/>
        </p:nvSpPr>
        <p:spPr>
          <a:xfrm>
            <a:off x="5394960" y="1783080"/>
            <a:ext cx="2240280" cy="640080"/>
          </a:xfrm>
          <a:prstGeom prst="rect">
            <a:avLst/>
          </a:prstGeom>
          <a:noFill/>
          <a:ln/>
        </p:spPr>
        <p:txBody>
          <a:bodyPr wrap="square" lIns="0" tIns="0" rIns="0" bIns="0" rtlCol="0" anchor="ctr"/>
          <a:lstStyle/>
          <a:p>
            <a:pPr indent="0" marL="0">
              <a:buNone/>
            </a:pPr>
            <a:r>
              <a:rPr lang="nb-NO" altLang="en-US" sz="1800" b="1" dirty="0">
                <a:solidFill>
                  <a:schemeClr val="tx1"/>
                </a:solidFill>
              </a:rPr>
              <a:t>Hvorfor, skrevet ned</a:t>
            </a:r>
            <a:endParaRPr lang="nb-NO" sz="1800" dirty="0"/>
          </a:p>
        </p:txBody>
      </p:sp>
      <p:sp>
        <p:nvSpPr>
          <p:cNvPr id="12" name="Card 2 text"/>
          <p:cNvSpPr txBox="1"/>
          <p:nvPr/>
        </p:nvSpPr>
        <p:spPr>
          <a:xfrm>
            <a:off x="4617720" y="2560320"/>
            <a:ext cx="2971800" cy="914400"/>
          </a:xfrm>
          <a:prstGeom prst="rect">
            <a:avLst/>
          </a:prstGeom>
          <a:noFill/>
          <a:ln/>
        </p:spPr>
        <p:txBody>
          <a:bodyPr wrap="square" lIns="0" tIns="0" rIns="0" bIns="0" rtlCol="0" anchor="t"/>
          <a:lstStyle/>
          <a:p>
            <a:pPr indent="0" marL="0">
              <a:buNone/>
            </a:pPr>
            <a:r>
              <a:rPr lang="nb-NO" altLang="en-US" sz="1400" dirty="0">
                <a:solidFill>
                  <a:schemeClr val="tx1"/>
                </a:solidFill>
              </a:rPr>
              <a:t>9 ADR-er: 4 felles og 5 i vertikalene, og en regel for når en beslutning trenger en.</a:t>
            </a:r>
            <a:endParaRPr lang="nb-NO" sz="1400" dirty="0"/>
          </a:p>
        </p:txBody>
      </p:sp>
      <p:sp>
        <p:nvSpPr>
          <p:cNvPr id="13" name="Card 3"/>
          <p:cNvSpPr/>
          <p:nvPr/>
        </p:nvSpPr>
        <p:spPr>
          <a:xfrm>
            <a:off x="8138160" y="1508760"/>
            <a:ext cx="3520440" cy="2148840"/>
          </a:xfrm>
          <a:prstGeom prst="roundRect">
            <a:avLst>
              <a:gd name="adj" fmla="val 5106"/>
            </a:avLst>
          </a:prstGeom>
          <a:solidFill>
            <a:schemeClr val="bg2"/>
          </a:solidFill>
          <a:ln w="12700">
            <a:solidFill>
              <a:schemeClr val="bg2"/>
            </a:solidFill>
            <a:prstDash val="solid"/>
          </a:ln>
        </p:spPr>
      </p:sp>
      <p:sp>
        <p:nvSpPr>
          <p:cNvPr id="14" name="Card 3 circle"/>
          <p:cNvSpPr/>
          <p:nvPr/>
        </p:nvSpPr>
        <p:spPr>
          <a:xfrm>
            <a:off x="8412480" y="1783080"/>
            <a:ext cx="640080" cy="640080"/>
          </a:xfrm>
          <a:prstGeom prst="ellipse">
            <a:avLst/>
          </a:prstGeom>
          <a:solidFill>
            <a:schemeClr val="accent2"/>
          </a:solidFill>
          <a:ln w="12700">
            <a:solidFill>
              <a:schemeClr val="accent2"/>
            </a:solidFill>
            <a:prstDash val="solid"/>
          </a:ln>
        </p:spPr>
      </p:sp>
      <p:pic>
        <p:nvPicPr>
          <p:cNvPr id="15" name="Card 3 icon" descr="preencoded.png">    </p:cNvPr>
          <p:cNvPicPr>
            <a:picLocks noChangeAspect="1"/>
          </p:cNvPicPr>
          <p:nvPr/>
        </p:nvPicPr>
        <p:blipFill>
          <a:blip r:embed="rId3"/>
          <a:stretch>
            <a:fillRect/>
          </a:stretch>
        </p:blipFill>
        <p:spPr>
          <a:xfrm>
            <a:off x="8566099" y="1936699"/>
            <a:ext cx="332842" cy="332842"/>
          </a:xfrm>
          <a:prstGeom prst="rect">
            <a:avLst/>
          </a:prstGeom>
        </p:spPr>
      </p:pic>
      <p:sp>
        <p:nvSpPr>
          <p:cNvPr id="16" name="Card 3 title"/>
          <p:cNvSpPr txBox="1"/>
          <p:nvPr/>
        </p:nvSpPr>
        <p:spPr>
          <a:xfrm>
            <a:off x="9189720" y="1783080"/>
            <a:ext cx="2240280" cy="640080"/>
          </a:xfrm>
          <a:prstGeom prst="rect">
            <a:avLst/>
          </a:prstGeom>
          <a:noFill/>
          <a:ln/>
        </p:spPr>
        <p:txBody>
          <a:bodyPr wrap="square" lIns="0" tIns="0" rIns="0" bIns="0" rtlCol="0" anchor="ctr"/>
          <a:lstStyle/>
          <a:p>
            <a:pPr indent="0" marL="0">
              <a:buNone/>
            </a:pPr>
            <a:r>
              <a:rPr lang="nb-NO" altLang="en-US" sz="1800" b="1" dirty="0">
                <a:solidFill>
                  <a:schemeClr val="tx1"/>
                </a:solidFill>
              </a:rPr>
              <a:t>Samme regler for alle</a:t>
            </a:r>
            <a:endParaRPr lang="nb-NO" sz="1800" dirty="0"/>
          </a:p>
        </p:txBody>
      </p:sp>
      <p:sp>
        <p:nvSpPr>
          <p:cNvPr id="17" name="Card 3 text"/>
          <p:cNvSpPr txBox="1"/>
          <p:nvPr/>
        </p:nvSpPr>
        <p:spPr>
          <a:xfrm>
            <a:off x="8412480" y="2560320"/>
            <a:ext cx="2971800" cy="914400"/>
          </a:xfrm>
          <a:prstGeom prst="rect">
            <a:avLst/>
          </a:prstGeom>
          <a:noFill/>
          <a:ln/>
        </p:spPr>
        <p:txBody>
          <a:bodyPr wrap="square" lIns="0" tIns="0" rIns="0" bIns="0" rtlCol="0" anchor="t"/>
          <a:lstStyle/>
          <a:p>
            <a:pPr indent="0" marL="0">
              <a:buNone/>
            </a:pPr>
            <a:r>
              <a:rPr lang="nb-NO" altLang="en-US" sz="1400" dirty="0">
                <a:solidFill>
                  <a:schemeClr val="tx1"/>
                </a:solidFill>
              </a:rPr>
              <a:t>Arbeidsavtale med 10 regler for AI-bruk i CONTRIBUTING.md, og et utkast til datapolicy.</a:t>
            </a:r>
            <a:endParaRPr lang="nb-NO" sz="1400" dirty="0"/>
          </a:p>
        </p:txBody>
      </p:sp>
      <p:sp>
        <p:nvSpPr>
          <p:cNvPr id="18" name="Card 4"/>
          <p:cNvSpPr/>
          <p:nvPr/>
        </p:nvSpPr>
        <p:spPr>
          <a:xfrm>
            <a:off x="548640" y="3931920"/>
            <a:ext cx="3520440" cy="2148840"/>
          </a:xfrm>
          <a:prstGeom prst="roundRect">
            <a:avLst>
              <a:gd name="adj" fmla="val 5106"/>
            </a:avLst>
          </a:prstGeom>
          <a:solidFill>
            <a:schemeClr val="bg2"/>
          </a:solidFill>
          <a:ln w="12700">
            <a:solidFill>
              <a:schemeClr val="bg2"/>
            </a:solidFill>
            <a:prstDash val="solid"/>
          </a:ln>
        </p:spPr>
      </p:sp>
      <p:sp>
        <p:nvSpPr>
          <p:cNvPr id="19" name="Card 4 circle"/>
          <p:cNvSpPr/>
          <p:nvPr/>
        </p:nvSpPr>
        <p:spPr>
          <a:xfrm>
            <a:off x="822960" y="4206240"/>
            <a:ext cx="640080" cy="640080"/>
          </a:xfrm>
          <a:prstGeom prst="ellipse">
            <a:avLst/>
          </a:prstGeom>
          <a:solidFill>
            <a:schemeClr val="accent2"/>
          </a:solidFill>
          <a:ln w="12700">
            <a:solidFill>
              <a:schemeClr val="accent2"/>
            </a:solidFill>
            <a:prstDash val="solid"/>
          </a:ln>
        </p:spPr>
      </p:sp>
      <p:pic>
        <p:nvPicPr>
          <p:cNvPr id="20" name="Card 4 icon" descr="preencoded.png">    </p:cNvPr>
          <p:cNvPicPr>
            <a:picLocks noChangeAspect="1"/>
          </p:cNvPicPr>
          <p:nvPr/>
        </p:nvPicPr>
        <p:blipFill>
          <a:blip r:embed="rId4"/>
          <a:stretch>
            <a:fillRect/>
          </a:stretch>
        </p:blipFill>
        <p:spPr>
          <a:xfrm>
            <a:off x="976579" y="4359859"/>
            <a:ext cx="332842" cy="332842"/>
          </a:xfrm>
          <a:prstGeom prst="rect">
            <a:avLst/>
          </a:prstGeom>
        </p:spPr>
      </p:pic>
      <p:sp>
        <p:nvSpPr>
          <p:cNvPr id="21" name="Card 4 title"/>
          <p:cNvSpPr txBox="1"/>
          <p:nvPr/>
        </p:nvSpPr>
        <p:spPr>
          <a:xfrm>
            <a:off x="1600200" y="4206240"/>
            <a:ext cx="2240280" cy="640080"/>
          </a:xfrm>
          <a:prstGeom prst="rect">
            <a:avLst/>
          </a:prstGeom>
          <a:noFill/>
          <a:ln/>
        </p:spPr>
        <p:txBody>
          <a:bodyPr wrap="square" lIns="0" tIns="0" rIns="0" bIns="0" rtlCol="0" anchor="ctr"/>
          <a:lstStyle/>
          <a:p>
            <a:pPr indent="0" marL="0">
              <a:buNone/>
            </a:pPr>
            <a:r>
              <a:rPr lang="nb-NO" altLang="en-US" sz="1800" b="1" dirty="0">
                <a:solidFill>
                  <a:schemeClr val="tx1"/>
                </a:solidFill>
              </a:rPr>
              <a:t>Én review-bot, kun råd</a:t>
            </a:r>
            <a:endParaRPr lang="nb-NO" sz="1800" dirty="0"/>
          </a:p>
        </p:txBody>
      </p:sp>
      <p:sp>
        <p:nvSpPr>
          <p:cNvPr id="22" name="Card 4 text"/>
          <p:cNvSpPr txBox="1"/>
          <p:nvPr/>
        </p:nvSpPr>
        <p:spPr>
          <a:xfrm>
            <a:off x="822960" y="4983480"/>
            <a:ext cx="2971800" cy="914400"/>
          </a:xfrm>
          <a:prstGeom prst="rect">
            <a:avLst/>
          </a:prstGeom>
          <a:noFill/>
          <a:ln/>
        </p:spPr>
        <p:txBody>
          <a:bodyPr wrap="square" lIns="0" tIns="0" rIns="0" bIns="0" rtlCol="0" anchor="t"/>
          <a:lstStyle/>
          <a:p>
            <a:pPr indent="0" marL="0">
              <a:buNone/>
            </a:pPr>
            <a:r>
              <a:rPr lang="nb-NO" altLang="en-US" sz="1400" dirty="0">
                <a:solidFill>
                  <a:schemeClr val="tx1"/>
                </a:solidFill>
              </a:rPr>
              <a:t>Copilot code review kommenterer. En person svarer på hver kommentar og godkjenner.</a:t>
            </a:r>
            <a:endParaRPr lang="nb-NO" sz="1400" dirty="0"/>
          </a:p>
        </p:txBody>
      </p:sp>
      <p:sp>
        <p:nvSpPr>
          <p:cNvPr id="23" name="Card 5"/>
          <p:cNvSpPr/>
          <p:nvPr/>
        </p:nvSpPr>
        <p:spPr>
          <a:xfrm>
            <a:off x="4343400" y="3931920"/>
            <a:ext cx="3520440" cy="2148840"/>
          </a:xfrm>
          <a:prstGeom prst="roundRect">
            <a:avLst>
              <a:gd name="adj" fmla="val 5106"/>
            </a:avLst>
          </a:prstGeom>
          <a:solidFill>
            <a:schemeClr val="bg2"/>
          </a:solidFill>
          <a:ln w="12700">
            <a:solidFill>
              <a:schemeClr val="bg2"/>
            </a:solidFill>
            <a:prstDash val="solid"/>
          </a:ln>
        </p:spPr>
      </p:sp>
      <p:sp>
        <p:nvSpPr>
          <p:cNvPr id="24" name="Card 5 circle"/>
          <p:cNvSpPr/>
          <p:nvPr/>
        </p:nvSpPr>
        <p:spPr>
          <a:xfrm>
            <a:off x="4617720" y="4206240"/>
            <a:ext cx="640080" cy="640080"/>
          </a:xfrm>
          <a:prstGeom prst="ellipse">
            <a:avLst/>
          </a:prstGeom>
          <a:solidFill>
            <a:schemeClr val="accent2"/>
          </a:solidFill>
          <a:ln w="12700">
            <a:solidFill>
              <a:schemeClr val="accent2"/>
            </a:solidFill>
            <a:prstDash val="solid"/>
          </a:ln>
        </p:spPr>
      </p:sp>
      <p:pic>
        <p:nvPicPr>
          <p:cNvPr id="25" name="Card 5 icon" descr="preencoded.png">    </p:cNvPr>
          <p:cNvPicPr>
            <a:picLocks noChangeAspect="1"/>
          </p:cNvPicPr>
          <p:nvPr/>
        </p:nvPicPr>
        <p:blipFill>
          <a:blip r:embed="rId5"/>
          <a:stretch>
            <a:fillRect/>
          </a:stretch>
        </p:blipFill>
        <p:spPr>
          <a:xfrm>
            <a:off x="4771339" y="4359859"/>
            <a:ext cx="332842" cy="332842"/>
          </a:xfrm>
          <a:prstGeom prst="rect">
            <a:avLst/>
          </a:prstGeom>
        </p:spPr>
      </p:pic>
      <p:sp>
        <p:nvSpPr>
          <p:cNvPr id="26" name="Card 5 title"/>
          <p:cNvSpPr txBox="1"/>
          <p:nvPr/>
        </p:nvSpPr>
        <p:spPr>
          <a:xfrm>
            <a:off x="5394960" y="4206240"/>
            <a:ext cx="2240280" cy="640080"/>
          </a:xfrm>
          <a:prstGeom prst="rect">
            <a:avLst/>
          </a:prstGeom>
          <a:noFill/>
          <a:ln/>
        </p:spPr>
        <p:txBody>
          <a:bodyPr wrap="square" lIns="0" tIns="0" rIns="0" bIns="0" rtlCol="0" anchor="ctr"/>
          <a:lstStyle/>
          <a:p>
            <a:pPr indent="0" marL="0">
              <a:buNone/>
            </a:pPr>
            <a:r>
              <a:rPr lang="nb-NO" altLang="en-US" sz="1800" b="1" dirty="0">
                <a:solidFill>
                  <a:schemeClr val="tx1"/>
                </a:solidFill>
              </a:rPr>
              <a:t>Sjekk før PR</a:t>
            </a:r>
            <a:endParaRPr lang="nb-NO" sz="1800" dirty="0"/>
          </a:p>
        </p:txBody>
      </p:sp>
      <p:sp>
        <p:nvSpPr>
          <p:cNvPr id="27" name="Card 5 text"/>
          <p:cNvSpPr txBox="1"/>
          <p:nvPr/>
        </p:nvSpPr>
        <p:spPr>
          <a:xfrm>
            <a:off x="4617720" y="4983480"/>
            <a:ext cx="2971800" cy="914400"/>
          </a:xfrm>
          <a:prstGeom prst="rect">
            <a:avLst/>
          </a:prstGeom>
          <a:noFill/>
          <a:ln/>
        </p:spPr>
        <p:txBody>
          <a:bodyPr wrap="square" lIns="0" tIns="0" rIns="0" bIns="0" rtlCol="0" anchor="t"/>
          <a:lstStyle/>
          <a:p>
            <a:pPr indent="0" marL="0">
              <a:buNone/>
            </a:pPr>
            <a:r>
              <a:rPr lang="nb-NO" altLang="en-US" sz="1400" dirty="0">
                <a:solidFill>
                  <a:schemeClr val="tx1"/>
                </a:solidFill>
              </a:rPr>
              <a:t>just check, check-full og repo-check kjører det samme som CI, også for agenter.</a:t>
            </a:r>
            <a:endParaRPr lang="nb-NO" sz="1400" dirty="0"/>
          </a:p>
        </p:txBody>
      </p:sp>
      <p:sp>
        <p:nvSpPr>
          <p:cNvPr id="28" name="Card 6"/>
          <p:cNvSpPr/>
          <p:nvPr/>
        </p:nvSpPr>
        <p:spPr>
          <a:xfrm>
            <a:off x="8138160" y="3931920"/>
            <a:ext cx="3520440" cy="2148840"/>
          </a:xfrm>
          <a:prstGeom prst="roundRect">
            <a:avLst>
              <a:gd name="adj" fmla="val 5106"/>
            </a:avLst>
          </a:prstGeom>
          <a:solidFill>
            <a:schemeClr val="bg2"/>
          </a:solidFill>
          <a:ln w="12700">
            <a:solidFill>
              <a:schemeClr val="bg2"/>
            </a:solidFill>
            <a:prstDash val="solid"/>
          </a:ln>
        </p:spPr>
      </p:sp>
      <p:sp>
        <p:nvSpPr>
          <p:cNvPr id="29" name="Card 6 circle"/>
          <p:cNvSpPr/>
          <p:nvPr/>
        </p:nvSpPr>
        <p:spPr>
          <a:xfrm>
            <a:off x="8412480" y="4206240"/>
            <a:ext cx="640080" cy="640080"/>
          </a:xfrm>
          <a:prstGeom prst="ellipse">
            <a:avLst/>
          </a:prstGeom>
          <a:solidFill>
            <a:schemeClr val="accent2"/>
          </a:solidFill>
          <a:ln w="12700">
            <a:solidFill>
              <a:schemeClr val="accent2"/>
            </a:solidFill>
            <a:prstDash val="solid"/>
          </a:ln>
        </p:spPr>
      </p:sp>
      <p:pic>
        <p:nvPicPr>
          <p:cNvPr id="30" name="Card 6 icon" descr="preencoded.png">    </p:cNvPr>
          <p:cNvPicPr>
            <a:picLocks noChangeAspect="1"/>
          </p:cNvPicPr>
          <p:nvPr/>
        </p:nvPicPr>
        <p:blipFill>
          <a:blip r:embed="rId6"/>
          <a:stretch>
            <a:fillRect/>
          </a:stretch>
        </p:blipFill>
        <p:spPr>
          <a:xfrm>
            <a:off x="8566099" y="4359859"/>
            <a:ext cx="332842" cy="332842"/>
          </a:xfrm>
          <a:prstGeom prst="rect">
            <a:avLst/>
          </a:prstGeom>
        </p:spPr>
      </p:pic>
      <p:sp>
        <p:nvSpPr>
          <p:cNvPr id="31" name="Card 6 title"/>
          <p:cNvSpPr txBox="1"/>
          <p:nvPr/>
        </p:nvSpPr>
        <p:spPr>
          <a:xfrm>
            <a:off x="9189720" y="4206240"/>
            <a:ext cx="2240280" cy="640080"/>
          </a:xfrm>
          <a:prstGeom prst="rect">
            <a:avLst/>
          </a:prstGeom>
          <a:noFill/>
          <a:ln/>
        </p:spPr>
        <p:txBody>
          <a:bodyPr wrap="square" lIns="0" tIns="0" rIns="0" bIns="0" rtlCol="0" anchor="ctr"/>
          <a:lstStyle/>
          <a:p>
            <a:pPr indent="0" marL="0">
              <a:buNone/>
            </a:pPr>
            <a:r>
              <a:rPr lang="nb-NO" altLang="en-US" sz="1800" b="1" dirty="0">
                <a:solidFill>
                  <a:schemeClr val="tx1"/>
                </a:solidFill>
              </a:rPr>
              <a:t>Vakt i CI</a:t>
            </a:r>
            <a:endParaRPr lang="nb-NO" sz="1800" dirty="0"/>
          </a:p>
        </p:txBody>
      </p:sp>
      <p:sp>
        <p:nvSpPr>
          <p:cNvPr id="32" name="Card 6 text"/>
          <p:cNvSpPr txBox="1"/>
          <p:nvPr/>
        </p:nvSpPr>
        <p:spPr>
          <a:xfrm>
            <a:off x="8412480" y="4983480"/>
            <a:ext cx="2971800" cy="914400"/>
          </a:xfrm>
          <a:prstGeom prst="rect">
            <a:avLst/>
          </a:prstGeom>
          <a:noFill/>
          <a:ln/>
        </p:spPr>
        <p:txBody>
          <a:bodyPr wrap="square" lIns="0" tIns="0" rIns="0" bIns="0" rtlCol="0" anchor="t"/>
          <a:lstStyle/>
          <a:p>
            <a:pPr indent="0" marL="0">
              <a:buNone/>
            </a:pPr>
            <a:r>
              <a:rPr lang="nb-NO" altLang="en-US" sz="1400" dirty="0">
                <a:solidFill>
                  <a:schemeClr val="tx1"/>
                </a:solidFill>
              </a:rPr>
              <a:t>Sjekker lenker, eiere og lengde på AGENTS.md og ADR-ene, så veiledningen ikke råtner.</a:t>
            </a:r>
            <a:endParaRPr lang="nb-NO"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nb-NO" altLang="en-US" sz="3600" b="1" dirty="0">
                <a:solidFill>
                  <a:schemeClr val="tx1"/>
                </a:solidFill>
              </a:rPr>
              <a:t>Hva det betyr for oss</a:t>
            </a:r>
            <a:endParaRPr lang="nb-NO" sz="3600" dirty="0"/>
          </a:p>
        </p:txBody>
      </p:sp>
      <p:sp>
        <p:nvSpPr>
          <p:cNvPr id="3" name="Point 1 circle"/>
          <p:cNvSpPr/>
          <p:nvPr/>
        </p:nvSpPr>
        <p:spPr>
          <a:xfrm>
            <a:off x="548640" y="1600200"/>
            <a:ext cx="777240" cy="777240"/>
          </a:xfrm>
          <a:prstGeom prst="ellipse">
            <a:avLst/>
          </a:prstGeom>
          <a:solidFill>
            <a:schemeClr val="accent1"/>
          </a:solidFill>
          <a:ln w="12700">
            <a:solidFill>
              <a:schemeClr val="accent1"/>
            </a:solidFill>
            <a:prstDash val="solid"/>
          </a:ln>
        </p:spPr>
      </p:sp>
      <p:pic>
        <p:nvPicPr>
          <p:cNvPr id="4" name="Point 1 icon" descr="preencoded.png">    </p:cNvPr>
          <p:cNvPicPr>
            <a:picLocks noChangeAspect="1"/>
          </p:cNvPicPr>
          <p:nvPr/>
        </p:nvPicPr>
        <p:blipFill>
          <a:blip r:embed="rId1"/>
          <a:stretch>
            <a:fillRect/>
          </a:stretch>
        </p:blipFill>
        <p:spPr>
          <a:xfrm>
            <a:off x="735178" y="1786738"/>
            <a:ext cx="404165" cy="404165"/>
          </a:xfrm>
          <a:prstGeom prst="rect">
            <a:avLst/>
          </a:prstGeom>
        </p:spPr>
      </p:pic>
      <p:sp>
        <p:nvSpPr>
          <p:cNvPr id="5" name="Point 1 title"/>
          <p:cNvSpPr txBox="1"/>
          <p:nvPr/>
        </p:nvSpPr>
        <p:spPr>
          <a:xfrm>
            <a:off x="1600200" y="1554480"/>
            <a:ext cx="5577840" cy="457200"/>
          </a:xfrm>
          <a:prstGeom prst="rect">
            <a:avLst/>
          </a:prstGeom>
          <a:noFill/>
          <a:ln/>
        </p:spPr>
        <p:txBody>
          <a:bodyPr wrap="square" lIns="0" tIns="0" rIns="0" bIns="0" rtlCol="0" anchor="t"/>
          <a:lstStyle/>
          <a:p>
            <a:pPr indent="0" marL="0">
              <a:buNone/>
            </a:pPr>
            <a:r>
              <a:rPr lang="nb-NO" altLang="en-US" sz="2000" b="1" dirty="0">
                <a:solidFill>
                  <a:schemeClr val="tx1"/>
                </a:solidFill>
              </a:rPr>
              <a:t>Raskere i gang</a:t>
            </a:r>
            <a:endParaRPr lang="nb-NO" sz="2000" dirty="0"/>
          </a:p>
        </p:txBody>
      </p:sp>
      <p:sp>
        <p:nvSpPr>
          <p:cNvPr id="6" name="Point 1 text"/>
          <p:cNvSpPr txBox="1"/>
          <p:nvPr/>
        </p:nvSpPr>
        <p:spPr>
          <a:xfrm>
            <a:off x="1600200" y="2011680"/>
            <a:ext cx="5577840" cy="731520"/>
          </a:xfrm>
          <a:prstGeom prst="rect">
            <a:avLst/>
          </a:prstGeom>
          <a:noFill/>
          <a:ln/>
        </p:spPr>
        <p:txBody>
          <a:bodyPr wrap="square" lIns="0" tIns="0" rIns="0" bIns="0" rtlCol="0" anchor="t"/>
          <a:lstStyle/>
          <a:p>
            <a:pPr indent="0" marL="0">
              <a:buNone/>
            </a:pPr>
            <a:r>
              <a:rPr lang="nb-NO" altLang="en-US" sz="1600" dirty="0">
                <a:solidFill>
                  <a:schemeClr val="tx1"/>
                </a:solidFill>
              </a:rPr>
              <a:t>En agent eller en ny kollega finner kommandoer, fallgruver og testoppsett uten å spørre.</a:t>
            </a:r>
            <a:endParaRPr lang="nb-NO" sz="1600" dirty="0"/>
          </a:p>
        </p:txBody>
      </p:sp>
      <p:sp>
        <p:nvSpPr>
          <p:cNvPr id="7" name="Point 2 circle"/>
          <p:cNvSpPr/>
          <p:nvPr/>
        </p:nvSpPr>
        <p:spPr>
          <a:xfrm>
            <a:off x="548640" y="3063240"/>
            <a:ext cx="777240" cy="777240"/>
          </a:xfrm>
          <a:prstGeom prst="ellipse">
            <a:avLst/>
          </a:prstGeom>
          <a:solidFill>
            <a:schemeClr val="accent1"/>
          </a:solidFill>
          <a:ln w="12700">
            <a:solidFill>
              <a:schemeClr val="accent1"/>
            </a:solidFill>
            <a:prstDash val="solid"/>
          </a:ln>
        </p:spPr>
      </p:sp>
      <p:pic>
        <p:nvPicPr>
          <p:cNvPr id="8" name="Point 2 icon" descr="preencoded.png">    </p:cNvPr>
          <p:cNvPicPr>
            <a:picLocks noChangeAspect="1"/>
          </p:cNvPicPr>
          <p:nvPr/>
        </p:nvPicPr>
        <p:blipFill>
          <a:blip r:embed="rId2"/>
          <a:stretch>
            <a:fillRect/>
          </a:stretch>
        </p:blipFill>
        <p:spPr>
          <a:xfrm>
            <a:off x="735178" y="3249778"/>
            <a:ext cx="404165" cy="404165"/>
          </a:xfrm>
          <a:prstGeom prst="rect">
            <a:avLst/>
          </a:prstGeom>
        </p:spPr>
      </p:pic>
      <p:sp>
        <p:nvSpPr>
          <p:cNvPr id="9" name="Point 2 title"/>
          <p:cNvSpPr txBox="1"/>
          <p:nvPr/>
        </p:nvSpPr>
        <p:spPr>
          <a:xfrm>
            <a:off x="1600200" y="3017520"/>
            <a:ext cx="5577840" cy="457200"/>
          </a:xfrm>
          <a:prstGeom prst="rect">
            <a:avLst/>
          </a:prstGeom>
          <a:noFill/>
          <a:ln/>
        </p:spPr>
        <p:txBody>
          <a:bodyPr wrap="square" lIns="0" tIns="0" rIns="0" bIns="0" rtlCol="0" anchor="t"/>
          <a:lstStyle/>
          <a:p>
            <a:pPr indent="0" marL="0">
              <a:buNone/>
            </a:pPr>
            <a:r>
              <a:rPr lang="nb-NO" altLang="en-US" sz="2000" b="1" dirty="0">
                <a:solidFill>
                  <a:schemeClr val="tx1"/>
                </a:solidFill>
              </a:rPr>
              <a:t>Samme krav til alt</a:t>
            </a:r>
            <a:endParaRPr lang="nb-NO" sz="2000" dirty="0"/>
          </a:p>
        </p:txBody>
      </p:sp>
      <p:sp>
        <p:nvSpPr>
          <p:cNvPr id="10" name="Point 2 text"/>
          <p:cNvSpPr txBox="1"/>
          <p:nvPr/>
        </p:nvSpPr>
        <p:spPr>
          <a:xfrm>
            <a:off x="1600200" y="3474720"/>
            <a:ext cx="5577840" cy="731520"/>
          </a:xfrm>
          <a:prstGeom prst="rect">
            <a:avLst/>
          </a:prstGeom>
          <a:noFill/>
          <a:ln/>
        </p:spPr>
        <p:txBody>
          <a:bodyPr wrap="square" lIns="0" tIns="0" rIns="0" bIns="0" rtlCol="0" anchor="t"/>
          <a:lstStyle/>
          <a:p>
            <a:pPr indent="0" marL="0">
              <a:buNone/>
            </a:pPr>
            <a:r>
              <a:rPr lang="nb-NO" altLang="en-US" sz="1600" dirty="0">
                <a:solidFill>
                  <a:schemeClr val="tx1"/>
                </a:solidFill>
              </a:rPr>
              <a:t>Uansett hvem som skrev koden: du eier den, og en person godkjenner.</a:t>
            </a:r>
            <a:endParaRPr lang="nb-NO" sz="1600" dirty="0"/>
          </a:p>
        </p:txBody>
      </p:sp>
      <p:sp>
        <p:nvSpPr>
          <p:cNvPr id="11" name="Point 3 circle"/>
          <p:cNvSpPr/>
          <p:nvPr/>
        </p:nvSpPr>
        <p:spPr>
          <a:xfrm>
            <a:off x="548640" y="4526280"/>
            <a:ext cx="777240" cy="777240"/>
          </a:xfrm>
          <a:prstGeom prst="ellipse">
            <a:avLst/>
          </a:prstGeom>
          <a:solidFill>
            <a:schemeClr val="accent1"/>
          </a:solidFill>
          <a:ln w="12700">
            <a:solidFill>
              <a:schemeClr val="accent1"/>
            </a:solidFill>
            <a:prstDash val="solid"/>
          </a:ln>
        </p:spPr>
      </p:sp>
      <p:pic>
        <p:nvPicPr>
          <p:cNvPr id="12" name="Point 3 icon" descr="preencoded.png">    </p:cNvPr>
          <p:cNvPicPr>
            <a:picLocks noChangeAspect="1"/>
          </p:cNvPicPr>
          <p:nvPr/>
        </p:nvPicPr>
        <p:blipFill>
          <a:blip r:embed="rId3"/>
          <a:stretch>
            <a:fillRect/>
          </a:stretch>
        </p:blipFill>
        <p:spPr>
          <a:xfrm>
            <a:off x="735178" y="4712818"/>
            <a:ext cx="404165" cy="404165"/>
          </a:xfrm>
          <a:prstGeom prst="rect">
            <a:avLst/>
          </a:prstGeom>
        </p:spPr>
      </p:pic>
      <p:sp>
        <p:nvSpPr>
          <p:cNvPr id="13" name="Point 3 title"/>
          <p:cNvSpPr txBox="1"/>
          <p:nvPr/>
        </p:nvSpPr>
        <p:spPr>
          <a:xfrm>
            <a:off x="1600200" y="4480560"/>
            <a:ext cx="5577840" cy="457200"/>
          </a:xfrm>
          <a:prstGeom prst="rect">
            <a:avLst/>
          </a:prstGeom>
          <a:noFill/>
          <a:ln/>
        </p:spPr>
        <p:txBody>
          <a:bodyPr wrap="square" lIns="0" tIns="0" rIns="0" bIns="0" rtlCol="0" anchor="t"/>
          <a:lstStyle/>
          <a:p>
            <a:pPr indent="0" marL="0">
              <a:buNone/>
            </a:pPr>
            <a:r>
              <a:rPr lang="nb-NO" altLang="en-US" sz="2000" b="1" dirty="0">
                <a:solidFill>
                  <a:schemeClr val="tx1"/>
                </a:solidFill>
              </a:rPr>
              <a:t>Ikke låst til ett verktøy</a:t>
            </a:r>
            <a:endParaRPr lang="nb-NO" sz="2000" dirty="0"/>
          </a:p>
        </p:txBody>
      </p:sp>
      <p:sp>
        <p:nvSpPr>
          <p:cNvPr id="14" name="Point 3 text"/>
          <p:cNvSpPr txBox="1"/>
          <p:nvPr/>
        </p:nvSpPr>
        <p:spPr>
          <a:xfrm>
            <a:off x="1600200" y="4937760"/>
            <a:ext cx="5577840" cy="731520"/>
          </a:xfrm>
          <a:prstGeom prst="rect">
            <a:avLst/>
          </a:prstGeom>
          <a:noFill/>
          <a:ln/>
        </p:spPr>
        <p:txBody>
          <a:bodyPr wrap="square" lIns="0" tIns="0" rIns="0" bIns="0" rtlCol="0" anchor="t"/>
          <a:lstStyle/>
          <a:p>
            <a:pPr indent="0" marL="0">
              <a:buNone/>
            </a:pPr>
            <a:r>
              <a:rPr lang="nb-NO" altLang="en-US" sz="1600" dirty="0">
                <a:solidFill>
                  <a:schemeClr val="tx1"/>
                </a:solidFill>
              </a:rPr>
              <a:t>Alle leser samme filer. Å bytte verktøy er en konfigurasjonsendring.</a:t>
            </a:r>
            <a:endParaRPr lang="nb-NO" sz="1600" dirty="0"/>
          </a:p>
        </p:txBody>
      </p:sp>
      <p:sp>
        <p:nvSpPr>
          <p:cNvPr id="15" name="Stat 1 card"/>
          <p:cNvSpPr/>
          <p:nvPr/>
        </p:nvSpPr>
        <p:spPr>
          <a:xfrm>
            <a:off x="7635240" y="1508760"/>
            <a:ext cx="4007815" cy="2057400"/>
          </a:xfrm>
          <a:prstGeom prst="roundRect">
            <a:avLst>
              <a:gd name="adj" fmla="val 5333"/>
            </a:avLst>
          </a:prstGeom>
          <a:solidFill>
            <a:schemeClr val="tx1"/>
          </a:solidFill>
          <a:ln w="12700">
            <a:solidFill>
              <a:schemeClr val="tx1"/>
            </a:solidFill>
            <a:prstDash val="solid"/>
          </a:ln>
        </p:spPr>
      </p:sp>
      <p:sp>
        <p:nvSpPr>
          <p:cNvPr id="16" name="Stat 1 number"/>
          <p:cNvSpPr txBox="1"/>
          <p:nvPr/>
        </p:nvSpPr>
        <p:spPr>
          <a:xfrm>
            <a:off x="7955280" y="1691640"/>
            <a:ext cx="3367735" cy="960120"/>
          </a:xfrm>
          <a:prstGeom prst="rect">
            <a:avLst/>
          </a:prstGeom>
          <a:noFill/>
          <a:ln/>
        </p:spPr>
        <p:txBody>
          <a:bodyPr wrap="square" lIns="0" tIns="0" rIns="0" bIns="0" rtlCol="0" anchor="ctr"/>
          <a:lstStyle/>
          <a:p>
            <a:pPr indent="0" marL="0">
              <a:buNone/>
            </a:pPr>
            <a:r>
              <a:rPr lang="nb-NO" altLang="en-US" sz="5400" b="1" dirty="0">
                <a:solidFill>
                  <a:schemeClr val="bg1"/>
                </a:solidFill>
              </a:rPr>
              <a:t>44 av 97</a:t>
            </a:r>
            <a:endParaRPr lang="nb-NO" sz="5400" dirty="0"/>
          </a:p>
        </p:txBody>
      </p:sp>
      <p:sp>
        <p:nvSpPr>
          <p:cNvPr id="17" name="Stat 1 label"/>
          <p:cNvSpPr txBox="1"/>
          <p:nvPr/>
        </p:nvSpPr>
        <p:spPr>
          <a:xfrm>
            <a:off x="7955280" y="2651760"/>
            <a:ext cx="3367735" cy="777240"/>
          </a:xfrm>
          <a:prstGeom prst="rect">
            <a:avLst/>
          </a:prstGeom>
          <a:noFill/>
          <a:ln/>
        </p:spPr>
        <p:txBody>
          <a:bodyPr wrap="square" lIns="0" tIns="0" rIns="0" bIns="0" rtlCol="0" anchor="t"/>
          <a:lstStyle/>
          <a:p>
            <a:pPr indent="0" marL="0">
              <a:buNone/>
            </a:pPr>
            <a:r>
              <a:rPr lang="nb-NO" altLang="en-US" sz="1500" dirty="0">
                <a:solidFill>
                  <a:schemeClr val="accent4"/>
                </a:solidFill>
              </a:rPr>
              <a:t>commits på main siden 18. september har en AI-assistent som medforfatter</a:t>
            </a:r>
            <a:endParaRPr lang="nb-NO" sz="1500" dirty="0"/>
          </a:p>
        </p:txBody>
      </p:sp>
      <p:sp>
        <p:nvSpPr>
          <p:cNvPr id="18" name="Stat 2 card"/>
          <p:cNvSpPr/>
          <p:nvPr/>
        </p:nvSpPr>
        <p:spPr>
          <a:xfrm>
            <a:off x="7635240" y="3840480"/>
            <a:ext cx="4007815" cy="2057400"/>
          </a:xfrm>
          <a:prstGeom prst="roundRect">
            <a:avLst>
              <a:gd name="adj" fmla="val 5333"/>
            </a:avLst>
          </a:prstGeom>
          <a:solidFill>
            <a:schemeClr val="tx1"/>
          </a:solidFill>
          <a:ln w="12700">
            <a:solidFill>
              <a:schemeClr val="tx1"/>
            </a:solidFill>
            <a:prstDash val="solid"/>
          </a:ln>
        </p:spPr>
      </p:sp>
      <p:sp>
        <p:nvSpPr>
          <p:cNvPr id="19" name="Stat 2 number"/>
          <p:cNvSpPr txBox="1"/>
          <p:nvPr/>
        </p:nvSpPr>
        <p:spPr>
          <a:xfrm>
            <a:off x="7955280" y="4023360"/>
            <a:ext cx="3367735" cy="960120"/>
          </a:xfrm>
          <a:prstGeom prst="rect">
            <a:avLst/>
          </a:prstGeom>
          <a:noFill/>
          <a:ln/>
        </p:spPr>
        <p:txBody>
          <a:bodyPr wrap="square" lIns="0" tIns="0" rIns="0" bIns="0" rtlCol="0" anchor="ctr"/>
          <a:lstStyle/>
          <a:p>
            <a:pPr indent="0" marL="0">
              <a:buNone/>
            </a:pPr>
            <a:r>
              <a:rPr lang="nb-NO" altLang="en-US" sz="5400" b="1" dirty="0">
                <a:solidFill>
                  <a:schemeClr val="bg1"/>
                </a:solidFill>
              </a:rPr>
              <a:t>31 av 32</a:t>
            </a:r>
            <a:endParaRPr lang="nb-NO" sz="5400" dirty="0"/>
          </a:p>
        </p:txBody>
      </p:sp>
      <p:sp>
        <p:nvSpPr>
          <p:cNvPr id="20" name="Stat 2 label"/>
          <p:cNvSpPr txBox="1"/>
          <p:nvPr/>
        </p:nvSpPr>
        <p:spPr>
          <a:xfrm>
            <a:off x="7955280" y="4983480"/>
            <a:ext cx="3367735" cy="777240"/>
          </a:xfrm>
          <a:prstGeom prst="rect">
            <a:avLst/>
          </a:prstGeom>
          <a:noFill/>
          <a:ln/>
        </p:spPr>
        <p:txBody>
          <a:bodyPr wrap="square" lIns="0" tIns="0" rIns="0" bIns="0" rtlCol="0" anchor="t"/>
          <a:lstStyle/>
          <a:p>
            <a:pPr indent="0" marL="0">
              <a:buNone/>
            </a:pPr>
            <a:r>
              <a:rPr lang="nb-NO" altLang="en-US" sz="1500" dirty="0">
                <a:solidFill>
                  <a:schemeClr val="accent4"/>
                </a:solidFill>
              </a:rPr>
              <a:t>funn fra Copilot i epicens egne PR-er førte til en endring</a:t>
            </a:r>
            <a:endParaRPr lang="nb-NO"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nb-NO" altLang="en-US" sz="3600" b="1" dirty="0">
                <a:solidFill>
                  <a:schemeClr val="tx1"/>
                </a:solidFill>
              </a:rPr>
              <a:t>Dette gjenstår</a:t>
            </a:r>
            <a:endParaRPr lang="nb-NO" sz="3600" dirty="0"/>
          </a:p>
        </p:txBody>
      </p:sp>
      <p:sp>
        <p:nvSpPr>
          <p:cNvPr id="3" name="Todo 1 circle"/>
          <p:cNvSpPr/>
          <p:nvPr/>
        </p:nvSpPr>
        <p:spPr>
          <a:xfrm>
            <a:off x="548640" y="1508760"/>
            <a:ext cx="731520" cy="731520"/>
          </a:xfrm>
          <a:prstGeom prst="ellipse">
            <a:avLst/>
          </a:prstGeom>
          <a:solidFill>
            <a:schemeClr val="accent3"/>
          </a:solidFill>
          <a:ln w="12700">
            <a:solidFill>
              <a:schemeClr val="accent3"/>
            </a:solidFill>
            <a:prstDash val="solid"/>
          </a:ln>
        </p:spPr>
      </p:sp>
      <p:pic>
        <p:nvPicPr>
          <p:cNvPr id="4" name="Todo 1 icon" descr="preencoded.png">    </p:cNvPr>
          <p:cNvPicPr>
            <a:picLocks noChangeAspect="1"/>
          </p:cNvPicPr>
          <p:nvPr/>
        </p:nvPicPr>
        <p:blipFill>
          <a:blip r:embed="rId1"/>
          <a:stretch>
            <a:fillRect/>
          </a:stretch>
        </p:blipFill>
        <p:spPr>
          <a:xfrm>
            <a:off x="724205" y="1684325"/>
            <a:ext cx="380390" cy="380390"/>
          </a:xfrm>
          <a:prstGeom prst="rect">
            <a:avLst/>
          </a:prstGeom>
        </p:spPr>
      </p:pic>
      <p:sp>
        <p:nvSpPr>
          <p:cNvPr id="5" name="Todo 1 title"/>
          <p:cNvSpPr txBox="1"/>
          <p:nvPr/>
        </p:nvSpPr>
        <p:spPr>
          <a:xfrm>
            <a:off x="1554480" y="1463040"/>
            <a:ext cx="5760720" cy="411480"/>
          </a:xfrm>
          <a:prstGeom prst="rect">
            <a:avLst/>
          </a:prstGeom>
          <a:noFill/>
          <a:ln/>
        </p:spPr>
        <p:txBody>
          <a:bodyPr wrap="square" lIns="0" tIns="0" rIns="0" bIns="0" rtlCol="0" anchor="t"/>
          <a:lstStyle/>
          <a:p>
            <a:pPr indent="0" marL="0">
              <a:buNone/>
            </a:pPr>
            <a:r>
              <a:rPr lang="nb-NO" altLang="en-US" sz="1900" b="1" dirty="0">
                <a:solidFill>
                  <a:schemeClr val="tx1"/>
                </a:solidFill>
              </a:rPr>
              <a:t>Fallgruver per vertikal</a:t>
            </a:r>
            <a:endParaRPr lang="nb-NO" sz="1900" dirty="0"/>
          </a:p>
        </p:txBody>
      </p:sp>
      <p:sp>
        <p:nvSpPr>
          <p:cNvPr id="6" name="Todo 1 text"/>
          <p:cNvSpPr txBox="1"/>
          <p:nvPr/>
        </p:nvSpPr>
        <p:spPr>
          <a:xfrm>
            <a:off x="1554480" y="1892808"/>
            <a:ext cx="5760720" cy="548640"/>
          </a:xfrm>
          <a:prstGeom prst="rect">
            <a:avLst/>
          </a:prstGeom>
          <a:noFill/>
          <a:ln/>
        </p:spPr>
        <p:txBody>
          <a:bodyPr wrap="square" lIns="0" tIns="0" rIns="0" bIns="0" rtlCol="0" anchor="t"/>
          <a:lstStyle/>
          <a:p>
            <a:pPr indent="0" marL="0">
              <a:buNone/>
            </a:pPr>
            <a:r>
              <a:rPr lang="nb-NO" altLang="en-US" sz="1500" dirty="0">
                <a:solidFill>
                  <a:schemeClr val="tx1"/>
                </a:solidFill>
              </a:rPr>
              <a:t>Workshop med teamet om det bare dere vet (#4078).</a:t>
            </a:r>
            <a:endParaRPr lang="nb-NO" sz="1500" dirty="0"/>
          </a:p>
        </p:txBody>
      </p:sp>
      <p:sp>
        <p:nvSpPr>
          <p:cNvPr id="7" name="Todo 2 circle"/>
          <p:cNvSpPr/>
          <p:nvPr/>
        </p:nvSpPr>
        <p:spPr>
          <a:xfrm>
            <a:off x="548640" y="2651760"/>
            <a:ext cx="731520" cy="731520"/>
          </a:xfrm>
          <a:prstGeom prst="ellipse">
            <a:avLst/>
          </a:prstGeom>
          <a:solidFill>
            <a:schemeClr val="accent3"/>
          </a:solidFill>
          <a:ln w="12700">
            <a:solidFill>
              <a:schemeClr val="accent3"/>
            </a:solidFill>
            <a:prstDash val="solid"/>
          </a:ln>
        </p:spPr>
      </p:sp>
      <p:pic>
        <p:nvPicPr>
          <p:cNvPr id="8" name="Todo 2 icon" descr="preencoded.png">    </p:cNvPr>
          <p:cNvPicPr>
            <a:picLocks noChangeAspect="1"/>
          </p:cNvPicPr>
          <p:nvPr/>
        </p:nvPicPr>
        <p:blipFill>
          <a:blip r:embed="rId2"/>
          <a:stretch>
            <a:fillRect/>
          </a:stretch>
        </p:blipFill>
        <p:spPr>
          <a:xfrm>
            <a:off x="724205" y="2827325"/>
            <a:ext cx="380390" cy="380390"/>
          </a:xfrm>
          <a:prstGeom prst="rect">
            <a:avLst/>
          </a:prstGeom>
        </p:spPr>
      </p:pic>
      <p:sp>
        <p:nvSpPr>
          <p:cNvPr id="9" name="Todo 2 title"/>
          <p:cNvSpPr txBox="1"/>
          <p:nvPr/>
        </p:nvSpPr>
        <p:spPr>
          <a:xfrm>
            <a:off x="1554480" y="2606040"/>
            <a:ext cx="5760720" cy="411480"/>
          </a:xfrm>
          <a:prstGeom prst="rect">
            <a:avLst/>
          </a:prstGeom>
          <a:noFill/>
          <a:ln/>
        </p:spPr>
        <p:txBody>
          <a:bodyPr wrap="square" lIns="0" tIns="0" rIns="0" bIns="0" rtlCol="0" anchor="t"/>
          <a:lstStyle/>
          <a:p>
            <a:pPr indent="0" marL="0">
              <a:buNone/>
            </a:pPr>
            <a:r>
              <a:rPr lang="nb-NO" altLang="en-US" sz="1900" b="1" dirty="0">
                <a:solidFill>
                  <a:schemeClr val="tx1"/>
                </a:solidFill>
              </a:rPr>
              <a:t>Repoene som flytter inn</a:t>
            </a:r>
            <a:endParaRPr lang="nb-NO" sz="1900" dirty="0"/>
          </a:p>
        </p:txBody>
      </p:sp>
      <p:sp>
        <p:nvSpPr>
          <p:cNvPr id="10" name="Todo 2 text"/>
          <p:cNvSpPr txBox="1"/>
          <p:nvPr/>
        </p:nvSpPr>
        <p:spPr>
          <a:xfrm>
            <a:off x="1554480" y="3035808"/>
            <a:ext cx="5760720" cy="548640"/>
          </a:xfrm>
          <a:prstGeom prst="rect">
            <a:avLst/>
          </a:prstGeom>
          <a:noFill/>
          <a:ln/>
        </p:spPr>
        <p:txBody>
          <a:bodyPr wrap="square" lIns="0" tIns="0" rIns="0" bIns="0" rtlCol="0" anchor="t"/>
          <a:lstStyle/>
          <a:p>
            <a:pPr indent="0" marL="0">
              <a:buNone/>
            </a:pPr>
            <a:r>
              <a:rPr lang="nb-NO" altLang="en-US" sz="1500" dirty="0">
                <a:solidFill>
                  <a:schemeClr val="tx1"/>
                </a:solidFill>
              </a:rPr>
              <a:t>Sjekkliste for Register, Authentication og frontend, så de tar med veiledningen (#4080).</a:t>
            </a:r>
            <a:endParaRPr lang="nb-NO" sz="1500" dirty="0"/>
          </a:p>
        </p:txBody>
      </p:sp>
      <p:sp>
        <p:nvSpPr>
          <p:cNvPr id="11" name="Todo 3 circle"/>
          <p:cNvSpPr/>
          <p:nvPr/>
        </p:nvSpPr>
        <p:spPr>
          <a:xfrm>
            <a:off x="548640" y="3794760"/>
            <a:ext cx="731520" cy="731520"/>
          </a:xfrm>
          <a:prstGeom prst="ellipse">
            <a:avLst/>
          </a:prstGeom>
          <a:solidFill>
            <a:schemeClr val="accent3"/>
          </a:solidFill>
          <a:ln w="12700">
            <a:solidFill>
              <a:schemeClr val="accent3"/>
            </a:solidFill>
            <a:prstDash val="solid"/>
          </a:ln>
        </p:spPr>
      </p:sp>
      <p:pic>
        <p:nvPicPr>
          <p:cNvPr id="12" name="Todo 3 icon" descr="preencoded.png">    </p:cNvPr>
          <p:cNvPicPr>
            <a:picLocks noChangeAspect="1"/>
          </p:cNvPicPr>
          <p:nvPr/>
        </p:nvPicPr>
        <p:blipFill>
          <a:blip r:embed="rId3"/>
          <a:stretch>
            <a:fillRect/>
          </a:stretch>
        </p:blipFill>
        <p:spPr>
          <a:xfrm>
            <a:off x="724205" y="3970325"/>
            <a:ext cx="380390" cy="380390"/>
          </a:xfrm>
          <a:prstGeom prst="rect">
            <a:avLst/>
          </a:prstGeom>
        </p:spPr>
      </p:pic>
      <p:sp>
        <p:nvSpPr>
          <p:cNvPr id="13" name="Todo 3 title"/>
          <p:cNvSpPr txBox="1"/>
          <p:nvPr/>
        </p:nvSpPr>
        <p:spPr>
          <a:xfrm>
            <a:off x="1554480" y="3749040"/>
            <a:ext cx="5760720" cy="411480"/>
          </a:xfrm>
          <a:prstGeom prst="rect">
            <a:avLst/>
          </a:prstGeom>
          <a:noFill/>
          <a:ln/>
        </p:spPr>
        <p:txBody>
          <a:bodyPr wrap="square" lIns="0" tIns="0" rIns="0" bIns="0" rtlCol="0" anchor="t"/>
          <a:lstStyle/>
          <a:p>
            <a:pPr indent="0" marL="0">
              <a:buNone/>
            </a:pPr>
            <a:r>
              <a:rPr lang="nb-NO" altLang="en-US" sz="1900" b="1" dirty="0">
                <a:solidFill>
                  <a:schemeClr val="tx1"/>
                </a:solidFill>
              </a:rPr>
              <a:t>Datapolicy i kraft</a:t>
            </a:r>
            <a:endParaRPr lang="nb-NO" sz="1900" dirty="0"/>
          </a:p>
        </p:txBody>
      </p:sp>
      <p:sp>
        <p:nvSpPr>
          <p:cNvPr id="14" name="Todo 3 text"/>
          <p:cNvSpPr txBox="1"/>
          <p:nvPr/>
        </p:nvSpPr>
        <p:spPr>
          <a:xfrm>
            <a:off x="1554480" y="4178808"/>
            <a:ext cx="5760720" cy="548640"/>
          </a:xfrm>
          <a:prstGeom prst="rect">
            <a:avLst/>
          </a:prstGeom>
          <a:noFill/>
          <a:ln/>
        </p:spPr>
        <p:txBody>
          <a:bodyPr wrap="square" lIns="0" tIns="0" rIns="0" bIns="0" rtlCol="0" anchor="t"/>
          <a:lstStyle/>
          <a:p>
            <a:pPr indent="0" marL="0">
              <a:buNone/>
            </a:pPr>
            <a:r>
              <a:rPr lang="nb-NO" altLang="en-US" sz="1500" dirty="0">
                <a:solidFill>
                  <a:schemeClr val="tx1"/>
                </a:solidFill>
              </a:rPr>
              <a:t>Godkjenning fra Digdir sikkerhet, og listen over godkjente verktøy (#4083).</a:t>
            </a:r>
            <a:endParaRPr lang="nb-NO" sz="1500" dirty="0"/>
          </a:p>
        </p:txBody>
      </p:sp>
      <p:sp>
        <p:nvSpPr>
          <p:cNvPr id="15" name="Todo 4 circle"/>
          <p:cNvSpPr/>
          <p:nvPr/>
        </p:nvSpPr>
        <p:spPr>
          <a:xfrm>
            <a:off x="548640" y="4937760"/>
            <a:ext cx="731520" cy="731520"/>
          </a:xfrm>
          <a:prstGeom prst="ellipse">
            <a:avLst/>
          </a:prstGeom>
          <a:solidFill>
            <a:schemeClr val="accent3"/>
          </a:solidFill>
          <a:ln w="12700">
            <a:solidFill>
              <a:schemeClr val="accent3"/>
            </a:solidFill>
            <a:prstDash val="solid"/>
          </a:ln>
        </p:spPr>
      </p:sp>
      <p:pic>
        <p:nvPicPr>
          <p:cNvPr id="16" name="Todo 4 icon" descr="preencoded.png">    </p:cNvPr>
          <p:cNvPicPr>
            <a:picLocks noChangeAspect="1"/>
          </p:cNvPicPr>
          <p:nvPr/>
        </p:nvPicPr>
        <p:blipFill>
          <a:blip r:embed="rId4"/>
          <a:stretch>
            <a:fillRect/>
          </a:stretch>
        </p:blipFill>
        <p:spPr>
          <a:xfrm>
            <a:off x="724205" y="5113325"/>
            <a:ext cx="380390" cy="380390"/>
          </a:xfrm>
          <a:prstGeom prst="rect">
            <a:avLst/>
          </a:prstGeom>
        </p:spPr>
      </p:pic>
      <p:sp>
        <p:nvSpPr>
          <p:cNvPr id="17" name="Todo 4 title"/>
          <p:cNvSpPr txBox="1"/>
          <p:nvPr/>
        </p:nvSpPr>
        <p:spPr>
          <a:xfrm>
            <a:off x="1554480" y="4892040"/>
            <a:ext cx="5760720" cy="411480"/>
          </a:xfrm>
          <a:prstGeom prst="rect">
            <a:avLst/>
          </a:prstGeom>
          <a:noFill/>
          <a:ln/>
        </p:spPr>
        <p:txBody>
          <a:bodyPr wrap="square" lIns="0" tIns="0" rIns="0" bIns="0" rtlCol="0" anchor="t"/>
          <a:lstStyle/>
          <a:p>
            <a:pPr indent="0" marL="0">
              <a:buNone/>
            </a:pPr>
            <a:r>
              <a:rPr lang="nb-NO" altLang="en-US" sz="1900" b="1" dirty="0">
                <a:solidFill>
                  <a:schemeClr val="tx1"/>
                </a:solidFill>
              </a:rPr>
              <a:t>AI i prosjektstyring</a:t>
            </a:r>
            <a:endParaRPr lang="nb-NO" sz="1900" dirty="0"/>
          </a:p>
        </p:txBody>
      </p:sp>
      <p:sp>
        <p:nvSpPr>
          <p:cNvPr id="18" name="Todo 4 text"/>
          <p:cNvSpPr txBox="1"/>
          <p:nvPr/>
        </p:nvSpPr>
        <p:spPr>
          <a:xfrm>
            <a:off x="1554480" y="5321808"/>
            <a:ext cx="5760720" cy="548640"/>
          </a:xfrm>
          <a:prstGeom prst="rect">
            <a:avLst/>
          </a:prstGeom>
          <a:noFill/>
          <a:ln/>
        </p:spPr>
        <p:txBody>
          <a:bodyPr wrap="square" lIns="0" tIns="0" rIns="0" bIns="0" rtlCol="0" anchor="t"/>
          <a:lstStyle/>
          <a:p>
            <a:pPr indent="0" marL="0">
              <a:buNone/>
            </a:pPr>
            <a:r>
              <a:rPr lang="nb-NO" altLang="en-US" sz="1500" dirty="0">
                <a:solidFill>
                  <a:schemeClr val="tx1"/>
                </a:solidFill>
              </a:rPr>
              <a:t>Board, ukentlig status og triage. Parkert til spor A og B er ferdige (#4102).</a:t>
            </a:r>
            <a:endParaRPr lang="nb-NO" sz="1500" dirty="0"/>
          </a:p>
        </p:txBody>
      </p:sp>
      <p:sp>
        <p:nvSpPr>
          <p:cNvPr id="19" name="Ask card"/>
          <p:cNvSpPr/>
          <p:nvPr/>
        </p:nvSpPr>
        <p:spPr>
          <a:xfrm>
            <a:off x="7635240" y="1508760"/>
            <a:ext cx="4007815" cy="4343400"/>
          </a:xfrm>
          <a:prstGeom prst="roundRect">
            <a:avLst>
              <a:gd name="adj" fmla="val 2738"/>
            </a:avLst>
          </a:prstGeom>
          <a:solidFill>
            <a:schemeClr val="tx1"/>
          </a:solidFill>
          <a:ln w="12700">
            <a:solidFill>
              <a:schemeClr val="tx1"/>
            </a:solidFill>
            <a:prstDash val="solid"/>
          </a:ln>
        </p:spPr>
      </p:sp>
      <p:sp>
        <p:nvSpPr>
          <p:cNvPr id="20" name="Ask circle"/>
          <p:cNvSpPr/>
          <p:nvPr/>
        </p:nvSpPr>
        <p:spPr>
          <a:xfrm>
            <a:off x="7955280" y="1828800"/>
            <a:ext cx="731520" cy="731520"/>
          </a:xfrm>
          <a:prstGeom prst="ellipse">
            <a:avLst/>
          </a:prstGeom>
          <a:solidFill>
            <a:schemeClr val="accent1"/>
          </a:solidFill>
          <a:ln w="12700">
            <a:solidFill>
              <a:schemeClr val="accent1"/>
            </a:solidFill>
            <a:prstDash val="solid"/>
          </a:ln>
        </p:spPr>
      </p:sp>
      <p:pic>
        <p:nvPicPr>
          <p:cNvPr id="21" name="Ask icon" descr="preencoded.png">    </p:cNvPr>
          <p:cNvPicPr>
            <a:picLocks noChangeAspect="1"/>
          </p:cNvPicPr>
          <p:nvPr/>
        </p:nvPicPr>
        <p:blipFill>
          <a:blip r:embed="rId5"/>
          <a:stretch>
            <a:fillRect/>
          </a:stretch>
        </p:blipFill>
        <p:spPr>
          <a:xfrm>
            <a:off x="8130845" y="2004365"/>
            <a:ext cx="380390" cy="380390"/>
          </a:xfrm>
          <a:prstGeom prst="rect">
            <a:avLst/>
          </a:prstGeom>
        </p:spPr>
      </p:pic>
      <p:sp>
        <p:nvSpPr>
          <p:cNvPr id="22" name="Ask title"/>
          <p:cNvSpPr txBox="1"/>
          <p:nvPr/>
        </p:nvSpPr>
        <p:spPr>
          <a:xfrm>
            <a:off x="7955280" y="2743200"/>
            <a:ext cx="3367735" cy="502920"/>
          </a:xfrm>
          <a:prstGeom prst="rect">
            <a:avLst/>
          </a:prstGeom>
          <a:noFill/>
          <a:ln/>
        </p:spPr>
        <p:txBody>
          <a:bodyPr wrap="square" lIns="0" tIns="0" rIns="0" bIns="0" rtlCol="0" anchor="t"/>
          <a:lstStyle/>
          <a:p>
            <a:pPr indent="0" marL="0">
              <a:buNone/>
            </a:pPr>
            <a:r>
              <a:rPr lang="nb-NO" altLang="en-US" sz="2000" b="1" dirty="0">
                <a:solidFill>
                  <a:schemeClr val="bg1"/>
                </a:solidFill>
              </a:rPr>
              <a:t>Det jeg trenger fra dere</a:t>
            </a:r>
            <a:endParaRPr lang="nb-NO" sz="2000" dirty="0"/>
          </a:p>
        </p:txBody>
      </p:sp>
      <p:sp>
        <p:nvSpPr>
          <p:cNvPr id="23" name="Ask list"/>
          <p:cNvSpPr txBox="1"/>
          <p:nvPr/>
        </p:nvSpPr>
        <p:spPr>
          <a:xfrm>
            <a:off x="7955280" y="3337560"/>
            <a:ext cx="3367735" cy="2286000"/>
          </a:xfrm>
          <a:prstGeom prst="rect">
            <a:avLst/>
          </a:prstGeom>
          <a:noFill/>
          <a:ln/>
        </p:spPr>
        <p:txBody>
          <a:bodyPr wrap="square" lIns="0" tIns="0" rIns="0" bIns="0" rtlCol="0" anchor="t"/>
          <a:lstStyle/>
          <a:p>
            <a:pPr marL="342900" indent="-342900">
              <a:spcAft>
                <a:spcPts val="800"/>
              </a:spcAft>
              <a:buSzPct val="100000"/>
              <a:buChar char="•"/>
            </a:pPr>
            <a:r>
              <a:rPr lang="nb-NO" altLang="en-US" sz="1500" dirty="0">
                <a:solidFill>
                  <a:schemeClr val="accent4"/>
                </a:solidFill>
              </a:rPr>
              <a:t>Les AGENTS.md for vertikalen du jobber i, og rett det som er feil.</a:t>
            </a:r>
            <a:endParaRPr lang="nb-NO" sz="1500" dirty="0"/>
          </a:p>
          <a:p>
            <a:pPr marL="342900" indent="-342900">
              <a:spcAft>
                <a:spcPts val="800"/>
              </a:spcAft>
              <a:buSzPct val="100000"/>
              <a:buChar char="•"/>
            </a:pPr>
            <a:r>
              <a:rPr lang="nb-NO" altLang="en-US" sz="1500" dirty="0">
                <a:solidFill>
                  <a:schemeClr val="accent4"/>
                </a:solidFill>
              </a:rPr>
              <a:t>Ta med én fallgruve til workshopen.</a:t>
            </a:r>
            <a:endParaRPr lang="nb-NO" sz="1500" dirty="0"/>
          </a:p>
          <a:p>
            <a:pPr marL="342900" indent="-342900">
              <a:spcAft>
                <a:spcPts val="800"/>
              </a:spcAft>
              <a:buSzPct val="100000"/>
              <a:buChar char="•"/>
            </a:pPr>
            <a:r>
              <a:rPr lang="nb-NO" altLang="en-US" sz="1500" dirty="0">
                <a:solidFill>
                  <a:schemeClr val="accent4"/>
                </a:solidFill>
              </a:rPr>
              <a:t>Si fra når en AI-assistent gjør noe dumt. Da hører det hjemme i AGENTS.md.</a:t>
            </a:r>
            <a:endParaRPr lang="nb-NO"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Altinn auth AI">
  <a:themeElements>
    <a:clrScheme name="Altinn auth AI">
      <a:dk1>
        <a:srgbClr val="0B2D4A"/>
      </a:dk1>
      <a:lt1>
        <a:srgbClr val="FFFFFF"/>
      </a:lt1>
      <a:dk2>
        <a:srgbClr val="0062BA"/>
      </a:dk2>
      <a:lt2>
        <a:srgbClr val="EAF4FB"/>
      </a:lt2>
      <a:accent1>
        <a:srgbClr val="0062BA"/>
      </a:accent1>
      <a:accent2>
        <a:srgbClr val="1E8E5A"/>
      </a:accent2>
      <a:accent3>
        <a:srgbClr val="C97A10"/>
      </a:accent3>
      <a:accent4>
        <a:srgbClr val="9CCBEF"/>
      </a:accent4>
      <a:accent5>
        <a:srgbClr val="4F6275"/>
      </a:accent5>
      <a:accent6>
        <a:srgbClr val="D6EAF8"/>
      </a:accent6>
      <a:hlink>
        <a:srgbClr val="0062BA"/>
      </a:hlink>
      <a:folHlink>
        <a:srgbClr val="4F6275"/>
      </a:folHlink>
    </a:clrScheme>
    <a:fontScheme name="Altinn auth 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AI-klar utvikling i altinn-auth</dc:title>
  <dc:subject>Status for epic #4075</dc:subject>
  <dc:creator>Altinn autorisasjon</dc:creator>
  <cp:lastModifiedBy>Altinn autorisasjon</cp:lastModifiedBy>
  <cp:revision>1</cp:revision>
  <dcterms:created xsi:type="dcterms:W3CDTF">2026-10-13T13:15:59Z</dcterms:created>
  <dcterms:modified xsi:type="dcterms:W3CDTF">2026-10-13T13:15:59Z</dcterms:modified>
</cp:coreProperties>
</file>
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0772c1a0bb4005" /><Relationship Type="http://schemas.openxmlformats.org/officeDocument/2006/relationships/extended-properties" Target="/docProps/app.xml" Id="R1a97855941c74698" /><Relationship Type="http://schemas.openxmlformats.org/officeDocument/2006/relationships/officeDocument" Target="/ppt/presentation.xml" Id="R7aa2ca5e990744ee" /></Relationships>
</file>

<file path=ppt/presentation.xml><?xml version="1.0" encoding="utf-8"?>
<p:presentation xmlns:p="http://schemas.openxmlformats.org/presentationml/2006/main">
  <p:sldMasterIdLst>
    <p:sldMasterId xmlns:r="http://schemas.openxmlformats.org/officeDocument/2006/relationships" id="2147483648" r:id="Rcf331b7fe54a4e85"/>
  </p:sldMasterIdLst>
  <p:notesMasterIdLst>
    <p:notesMasterId xmlns:r="http://schemas.openxmlformats.org/officeDocument/2006/relationships" r:id="Rb4c68340890b42a2"/>
  </p:notesMasterIdLst>
  <p:sldIdLst>
    <p:sldId xmlns:r="http://schemas.openxmlformats.org/officeDocument/2006/relationships" id="256" r:id="R3f9c49c9d4f54dea"/>
    <p:sldId xmlns:r="http://schemas.openxmlformats.org/officeDocument/2006/relationships" id="257" r:id="R933486527a3a4a6e"/>
    <p:sldId xmlns:r="http://schemas.openxmlformats.org/officeDocument/2006/relationships" id="258" r:id="Re4d79d2725964c29"/>
    <p:sldId xmlns:r="http://schemas.openxmlformats.org/officeDocument/2006/relationships" id="259" r:id="R0b49c92a88f948c5"/>
    <p:sldId xmlns:r="http://schemas.openxmlformats.org/officeDocument/2006/relationships" id="260" r:id="R20c772ea866a4874"/>
    <p:sldId xmlns:r="http://schemas.openxmlformats.org/officeDocument/2006/relationships" id="261" r:id="R813f98a4f1a743d7"/>
    <p:sldId xmlns:r="http://schemas.openxmlformats.org/officeDocument/2006/relationships" id="262" r:id="Rf94238d0adfb4ea7"/>
    <p:sldId xmlns:r="http://schemas.openxmlformats.org/officeDocument/2006/relationships" id="263" r:id="R71d9bf4891ee4755"/>
    <p:sldId xmlns:r="http://schemas.openxmlformats.org/officeDocument/2006/relationships" id="264" r:id="Rda318d8511bd4b9a"/>
    <p:sldId xmlns:r="http://schemas.openxmlformats.org/officeDocument/2006/relationships" id="265" r:id="Rbce41af25a154a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94c18b657844d9" /><Relationship Type="http://schemas.openxmlformats.org/officeDocument/2006/relationships/slideMaster" Target="/ppt/slideMasters/slideMaster1.xml" Id="Rcf331b7fe54a4e85" /><Relationship Type="http://schemas.openxmlformats.org/officeDocument/2006/relationships/notesMaster" Target="/ppt/notesMasters/notesMaster1.xml" Id="Rb4c68340890b42a2" /><Relationship Type="http://schemas.openxmlformats.org/officeDocument/2006/relationships/presProps" Target="/ppt/presProps.xml" Id="R98ed3c2396fb48b6" /><Relationship Type="http://schemas.openxmlformats.org/officeDocument/2006/relationships/tableStyles" Target="/ppt/tableStyles.xml" Id="Re2850d18492a413c" /><Relationship Type="http://schemas.openxmlformats.org/officeDocument/2006/relationships/slide" Target="/ppt/slides/slide1.xml" Id="R3f9c49c9d4f54dea" /><Relationship Type="http://schemas.openxmlformats.org/officeDocument/2006/relationships/slide" Target="/ppt/slides/slide2.xml" Id="R933486527a3a4a6e" /><Relationship Type="http://schemas.openxmlformats.org/officeDocument/2006/relationships/slide" Target="/ppt/slides/slide3.xml" Id="Re4d79d2725964c29" /><Relationship Type="http://schemas.openxmlformats.org/officeDocument/2006/relationships/slide" Target="/ppt/slides/slide4.xml" Id="R0b49c92a88f948c5" /><Relationship Type="http://schemas.openxmlformats.org/officeDocument/2006/relationships/slide" Target="/ppt/slides/slide5.xml" Id="R20c772ea866a4874" /><Relationship Type="http://schemas.openxmlformats.org/officeDocument/2006/relationships/slide" Target="/ppt/slides/slide6.xml" Id="R813f98a4f1a743d7" /><Relationship Type="http://schemas.openxmlformats.org/officeDocument/2006/relationships/slide" Target="/ppt/slides/slide7.xml" Id="Rf94238d0adfb4ea7" /><Relationship Type="http://schemas.openxmlformats.org/officeDocument/2006/relationships/slide" Target="/ppt/slides/slide8.xml" Id="R71d9bf4891ee4755" /><Relationship Type="http://schemas.openxmlformats.org/officeDocument/2006/relationships/slide" Target="/ppt/slides/slide9.xml" Id="Rda318d8511bd4b9a" /><Relationship Type="http://schemas.openxmlformats.org/officeDocument/2006/relationships/slide" Target="/ppt/slides/slide10.xml" Id="Rbce41af25a154a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84cfdac8cc4c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e4651e726e425d" /><Relationship Type="http://schemas.openxmlformats.org/officeDocument/2006/relationships/notesMaster" Target="/ppt/notesMasters/notesMaster1.xml" Id="Rfa4e217be46f43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0125dbd80c4b63" /><Relationship Type="http://schemas.openxmlformats.org/officeDocument/2006/relationships/notesMaster" Target="/ppt/notesMasters/notesMaster1.xml" Id="R0231e3cb4b6941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2b42ec06404004" /><Relationship Type="http://schemas.openxmlformats.org/officeDocument/2006/relationships/notesMaster" Target="/ppt/notesMasters/notesMaster1.xml" Id="Rd55f30d6e7ae4d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1c0287ee2e4d5c" /><Relationship Type="http://schemas.openxmlformats.org/officeDocument/2006/relationships/notesMaster" Target="/ppt/notesMasters/notesMaster1.xml" Id="R35f4d01f127649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4e441d16f24496" /><Relationship Type="http://schemas.openxmlformats.org/officeDocument/2006/relationships/notesMaster" Target="/ppt/notesMasters/notesMaster1.xml" Id="R34c12ce4fe9c43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1f784af8dc417b" /><Relationship Type="http://schemas.openxmlformats.org/officeDocument/2006/relationships/notesMaster" Target="/ppt/notesMasters/notesMaster1.xml" Id="Rfe134570eb1b44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2c99338c684f8b" /><Relationship Type="http://schemas.openxmlformats.org/officeDocument/2006/relationships/notesMaster" Target="/ppt/notesMasters/notesMaster1.xml" Id="R67742e22d9a04e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c4ab12f38f45f5" /><Relationship Type="http://schemas.openxmlformats.org/officeDocument/2006/relationships/notesMaster" Target="/ppt/notesMasters/notesMaster1.xml" Id="R90528885dca14b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e7aa8dfd62466c" /><Relationship Type="http://schemas.openxmlformats.org/officeDocument/2006/relationships/notesMaster" Target="/ppt/notesMasters/notesMaster1.xml" Id="Rf20745b52fba41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c404a2bbbc47ae" /><Relationship Type="http://schemas.openxmlformats.org/officeDocument/2006/relationships/notesMaster" Target="/ppt/notesMasters/notesMaster1.xml" Id="R1b795a084a2a4c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og Agent beskriver dagens typer etter brukerens opplysninger og Altinns veiledning. De to øvrige beskriver planlagt funksjonalitet. Grunnlag for nye typer: brukerens konseptbeskrivelse i samtalen 8. september 2026. standAlone og «fri» er under utvikling. Navneforslagene er forslag i denne presentasjonen.</a:t>
            </a:r>
          </a:p>
          <a:p xmlns:a="http://schemas.openxmlformats.org/drawingml/2006/main">
            <a:r>
              <a:t>Kilde: https://docs.altinn.studio/nb/authorization/guides/system-vendor/system-user/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Illustrasjonen personifiserer de fire typene gjennom egenskapene deres. Standard har godkjente tilganger. Agent har klientmapper. standAlone tilhører egen organisasjon uten at virksomheten må registrere eget system. «Fri» beholder systemtilknytningen, men starter uten rettigheter. standAlone og «fri» er under utvikling.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Kilder for Standard og Agent: https://docs.altinn.studio/nb/authorization/guides/system-vendor/system-user/ og https://docs.altinn.studio/nb/authorization/guides/system-vendor/system-user/systemuserrequest/.</a:t>
            </a:r>
          </a:p>
          <a:p xmlns:a="http://schemas.openxmlformats.org/drawingml/2006/main">
            <a:r>
              <a:t>Grunnlag for nye typer: brukerens konseptbeskrivelse i samtalen 8. september 2026. standAlone og «fri» er under utvikling. Navneforslagene er forslag i denne presentasjonen.</a:t>
            </a:r>
          </a:p>
          <a:p xmlns:a="http://schemas.openxmlformats.org/drawingml/2006/main">
            <a:r>
              <a:t>For standAlone beskriver tabellen at virksomheten slipper å registrere et eget system. Den tar ikke stilling til intern teknisk representasjon i systemregisteret. «Ingen forhåndsdefinert rettighetsprofil» tolker brukerens formulering om at typen ikke definerer hvilke rettigheter den utløser.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omtales som «Systembruker for eget system» i veiledningen. Brukerstyrt og leverandørstyrt opprettelse er mulig. Ved leverandørstyrt opprettelse må den som godkjenner, ha myndighet til å delegere samtlige etterspurte tilganger.</a:t>
            </a:r>
          </a:p>
          <a:p xmlns:a="http://schemas.openxmlformats.org/drawingml/2006/main">
            <a:r>
              <a:t>Kilder: https://docs.altinn.studio/nb/authorization/guides/system-vendor/system-user/</a:t>
            </a:r>
          </a:p>
          <a:p xmlns:a="http://schemas.openxmlformats.org/drawingml/2006/main">
            <a:r>
              <a:t>https://docs.altinn.studio/nb/authorization/guides/system-vendor/system-user/systemuserrequest/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omtales som «Systembruker for klientsystem» i veiledningen. Godkjenning av opprettelsen alene gir ikke klienttilgang. Fullmakter kan bygge på registrerte forhold i Enhetsregisteret eller virksomhetsdelegerte tilgangspakker. Klientdelegering skjer separat.</a:t>
            </a:r>
          </a:p>
          <a:p xmlns:a="http://schemas.openxmlformats.org/drawingml/2006/main">
            <a:r>
              <a:t>Kilder: https://docs.altinn.studio/nb/authorization/guides/system-vendor/system-user/</a:t>
            </a:r>
          </a:p>
          <a:p xmlns:a="http://schemas.openxmlformats.org/drawingml/2006/main">
            <a:r>
              <a:t>https://docs.altinn.studio/nb/authorization/guides/system-vendor/system-user/systemuserrequest/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Grunnlag for nye typer: brukerens konseptbeskrivelse i samtalen 8. september 2026. standAlone og «fri» er under utvikling. Navneforslagene er forslag i denne presentasjonen.</a:t>
            </a:r>
          </a:p>
          <a:p xmlns:a="http://schemas.openxmlformats.org/drawingml/2006/main">
            <a:r>
              <a:t>«Ingen forhåndsdefinert rettighetsprofil» er en språklig presisering av at det ikke er definert hvilke rettigheter typen utløser. Tilgangen følger egne delegeringer. At standAlone kan brukes i agentforhold er eksplisitt oppgitt av brukeren. Det er ikke spesifisert hvilke rettighetstyper agentflyten støtter, og presentasjonen påstår derfor ikke at enkeltrettigheter støttes i denne flyten.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Grunnlag: brukerens konseptbeskrivelse og presisering i samtalen 8. september 2026. «Fri» er under utvikling og knyttes til system i systemregisteret, men opprettes uten rettigheter. Systemet kan fortsatt ha definerte tilganger. Delegering skjer separat. Typen kan kombinere ulike klienttyper og egen virksomhet på samme systembruker. Risikoen ved separat delegering er at brukeren velger feil rettigheter og gir systembrukeren for lite eller for mye tilgang. «Systemtilknyttet uten rettighetskrav» er et foreslått visningsnavn, ikke en API-verdi.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Grunnlag: brukerens presisering i samtalen 8. september 2026. Fordeler: ulike typer klienter kan knyttes til samme systembruker, og klienter kan kombineres med egen virksomhet. Ulemper: brukeren kan delegere feil rettigheter, slik at systemet får for få eller for mange rettigheter. Begrepene «For lite tilgang» og «For mye tilgang» beskriver følgene av slike valg, ikke en endring av kravene for autorisasjon.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Grunnlag: brukerens beskrivelse og oppfølgende presisering i samtalen 8. september 2026. standAlone kan brukes i agentforhold. «Fri» kan ha ulike typer klienter knyttet til samme systembruker og kombinere klienter med egen virksomhet. Begge nye typer er under utvikling. Systemets definerte tilganger er atskilt fra systembrukerens faktiske tilganger.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Navnene Frittstående og Systemtilknyttet uten krav er visningsnavn foreslått i denne presentasjonen. Fullt navneforslag for «fri»: «Systemtilknyttet uten rettighetskrav». Navnet «fri» kan gi inntrykk av ubegrenset tilgang, mens det foreslåtte navnet beskriver at opprettelse skjer uten rettighetskrav.</a:t>
            </a:r>
          </a:p>
          <a:p xmlns:a="http://schemas.openxmlformats.org/drawingml/2006/main">
            <a:r>
              <a:t>Kilder for dagens typer: https://docs.altinn.studio/nb/authorization/guides/system-vendor/system-user/</a:t>
            </a:r>
          </a:p>
          <a:p xmlns:a="http://schemas.openxmlformats.org/drawingml/2006/main">
            <a:r>
              <a:t>Grunnlag for nye typer: brukerens konseptbeskrivelse i samtalen 8. september 2026. standAlone og «fri» er under utvikling. Navneforslagene er forslag i denne presentasjonen.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0cd504340e4d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cdbcb7fe134815" /><Relationship Type="http://schemas.openxmlformats.org/officeDocument/2006/relationships/slideLayout" Target="/ppt/slideLayouts/slideLayout1.xml" Id="Rda792f120a6f43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792f120a6f43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03a96dcf444221" /><Relationship Type="http://schemas.openxmlformats.org/officeDocument/2006/relationships/notesSlide" Target="/ppt/notesSlides/notesSlide1.xml" Id="R950165e0619446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2d99aa59d040e4" /><Relationship Type="http://schemas.openxmlformats.org/officeDocument/2006/relationships/image" Target="/ppt/media/image.png" Id="R137360ad7c554932" /><Relationship Type="http://schemas.openxmlformats.org/officeDocument/2006/relationships/notesSlide" Target="/ppt/notesSlides/notesSlide2.xml" Id="Rbcbec3c3cf3c4f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9e0b114d514c95" /><Relationship Type="http://schemas.openxmlformats.org/officeDocument/2006/relationships/notesSlide" Target="/ppt/notesSlides/notesSlide3.xml" Id="R35a187c5a4e74c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61dabbea524381" /><Relationship Type="http://schemas.openxmlformats.org/officeDocument/2006/relationships/notesSlide" Target="/ppt/notesSlides/notesSlide4.xml" Id="R6e3a605095004d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8374cbdca84366" /><Relationship Type="http://schemas.openxmlformats.org/officeDocument/2006/relationships/notesSlide" Target="/ppt/notesSlides/notesSlide5.xml" Id="Rb33a1675f58341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487fbd385e4556" /><Relationship Type="http://schemas.openxmlformats.org/officeDocument/2006/relationships/notesSlide" Target="/ppt/notesSlides/notesSlide6.xml" Id="R025fc52d1ab542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d3d1f7c4ad54f3b" /><Relationship Type="http://schemas.openxmlformats.org/officeDocument/2006/relationships/notesSlide" Target="/ppt/notesSlides/notesSlide7.xml" Id="R160fa65fcab942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9cf6a803ef43e4" /><Relationship Type="http://schemas.openxmlformats.org/officeDocument/2006/relationships/notesSlide" Target="/ppt/notesSlides/notesSlide8.xml" Id="R26b72e68587040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831671ee8584eda" /><Relationship Type="http://schemas.openxmlformats.org/officeDocument/2006/relationships/notesSlide" Target="/ppt/notesSlides/notesSlide9.xml" Id="R1faf711ed17645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b8ad9b1f914d21" /><Relationship Type="http://schemas.openxmlformats.org/officeDocument/2006/relationships/notesSlide" Target="/ppt/notesSlides/notesSlide10.xml" Id="R77d87e7262a64e44" /></Relationships>
</file>

<file path=ppt/slides/slide1.xml><?xml version="1.0" encoding="utf-8"?>
<p:sld xmlns:p="http://schemas.openxmlformats.org/presentationml/2006/main">
  <p:cSld>
    <p:bg>
      <p:bgPr>
        <a:solidFill xmlns:a="http://schemas.openxmlformats.org/drawingml/2006/main">
          <a:srgbClr val="102C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3BCB77-51B0-4C74-924A-F4105F5426F3}"/>
              </a:ext>
            </a:extLst>
          </p:cNvPr>
          <p:cNvSpPr>
            <a:spLocks xmlns:a="http://schemas.openxmlformats.org/drawingml/2006/main" noGrp="1"/>
          </p:cNvSpPr>
          <p:nvPr/>
        </p:nvSpPr>
        <p:spPr>
          <a:xfrm xmlns:a="http://schemas.openxmlformats.org/drawingml/2006/main">
            <a:off x="609600" y="1143000"/>
            <a:ext cx="10763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Fire typer</a:t>
            </a:r>
          </a:p>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systembrukere</a:t>
            </a:r>
          </a:p>
        </p:txBody>
      </p:sp>
      <p:sp>
        <p:nvSpPr>
          <p:cNvPr id="2" name="">
            <a:extLst xmlns:a="http://schemas.openxmlformats.org/drawingml/2006/main">
              <a:ext uri="{FF2B5EF4-FFF2-40B4-BE49-F238E27FC236}">
                <a16:creationId xmlns:a16="http://schemas.microsoft.com/office/drawing/2014/main" id="{4230E169-67C8-498F-A333-A36487DC076B}"/>
              </a:ext>
            </a:extLst>
          </p:cNvPr>
          <p:cNvSpPr>
            <a:spLocks xmlns:a="http://schemas.openxmlformats.org/drawingml/2006/main" noGrp="1"/>
          </p:cNvSpPr>
          <p:nvPr/>
        </p:nvSpPr>
        <p:spPr>
          <a:xfrm xmlns:a="http://schemas.openxmlformats.org/drawingml/2006/main">
            <a:off x="647700" y="3238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BDE3DC"/>
                </a:solidFill>
                <a:latin typeface="Arial"/>
                <a:ea typeface="Arial"/>
                <a:cs typeface="Arial"/>
              </a:defRPr>
            </a:pPr>
            <a:r>
              <a:rPr sz="2400" b="0">
                <a:solidFill>
                  <a:srgbClr val="BDE3DC"/>
                </a:solidFill>
                <a:latin typeface="Arial"/>
                <a:ea typeface="Arial"/>
                <a:cs typeface="Arial"/>
              </a:rPr>
              <a:t>Standard, Agent, standAlone og «fri»</a:t>
            </a:r>
          </a:p>
        </p:txBody>
      </p:sp>
      <p:sp>
        <p:nvSpPr>
          <p:cNvPr id="3" name="">
            <a:extLst xmlns:a="http://schemas.openxmlformats.org/drawingml/2006/main">
              <a:ext uri="{FF2B5EF4-FFF2-40B4-BE49-F238E27FC236}">
                <a16:creationId xmlns:a16="http://schemas.microsoft.com/office/drawing/2014/main" id="{B42F282D-E572-4B9A-ABCD-270D5567DC6C}"/>
              </a:ext>
            </a:extLst>
          </p:cNvPr>
          <p:cNvSpPr>
            <a:spLocks xmlns:a="http://schemas.openxmlformats.org/drawingml/2006/main" noGrp="1"/>
          </p:cNvSpPr>
          <p:nvPr/>
        </p:nvSpPr>
        <p:spPr>
          <a:xfrm xmlns:a="http://schemas.openxmlformats.org/drawingml/2006/main">
            <a:off x="647700" y="4191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Systemtilknytning, opprettelse og delegering</a:t>
            </a:r>
          </a:p>
        </p:txBody>
      </p:sp>
      <p:sp>
        <p:nvSpPr>
          <p:cNvPr id="4" name="">
            <a:extLst xmlns:a="http://schemas.openxmlformats.org/drawingml/2006/main">
              <a:ext uri="{FF2B5EF4-FFF2-40B4-BE49-F238E27FC236}">
                <a16:creationId xmlns:a16="http://schemas.microsoft.com/office/drawing/2014/main" id="{2E47E554-151E-4A83-9887-DAF4AE750BD6}"/>
              </a:ext>
            </a:extLst>
          </p:cNvPr>
          <p:cNvSpPr>
            <a:spLocks xmlns:a="http://schemas.openxmlformats.org/drawingml/2006/main" noGrp="1"/>
          </p:cNvSpPr>
          <p:nvPr/>
        </p:nvSpPr>
        <p:spPr>
          <a:xfrm xmlns:a="http://schemas.openxmlformats.org/drawingml/2006/main">
            <a:off x="647700" y="60388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DE3DC"/>
                </a:solidFill>
                <a:latin typeface="Arial"/>
                <a:ea typeface="Arial"/>
                <a:cs typeface="Arial"/>
              </a:defRPr>
            </a:pPr>
            <a:r>
              <a:rPr sz="1500" b="0">
                <a:solidFill>
                  <a:srgbClr val="BDE3DC"/>
                </a:solidFill>
                <a:latin typeface="Arial"/>
                <a:ea typeface="Arial"/>
                <a:cs typeface="Arial"/>
              </a:rPr>
              <a:t>Konseptoversikt · September 2026</a:t>
            </a:r>
          </a:p>
        </p:txBody>
      </p:sp>
    </p:spTree>
    <p:extLst>
      <p:ext uri="{BB962C8B-B14F-4D97-AF65-F5344CB8AC3E}">
        <p14:creationId xmlns:p14="http://schemas.microsoft.com/office/powerpoint/2010/main" val="680635030"/>
      </p:ext>
    </p:extLst>
  </p:cSld>
</p:sld>
</file>

<file path=ppt/slides/slide2.xml><?xml version="1.0" encoding="utf-8"?>
<p:sld xmlns:p="http://schemas.openxmlformats.org/presentationml/2006/main">
  <p:cSld>
    <p:bg>
      <p:bgPr>
        <a:solidFill xmlns:a="http://schemas.openxmlformats.org/drawingml/2006/main">
          <a:srgbClr val="FCF7ED"/>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37360ad7c55493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295038586"/>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6A9B8A-39A3-41B8-B63C-9FB159C4115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548"/>
                </a:solidFill>
                <a:latin typeface="Arial"/>
                <a:ea typeface="Arial"/>
                <a:cs typeface="Arial"/>
              </a:defRPr>
            </a:pPr>
            <a:r>
              <a:rPr sz="3450" b="1">
                <a:solidFill>
                  <a:srgbClr val="163548"/>
                </a:solidFill>
                <a:latin typeface="Arial"/>
                <a:ea typeface="Arial"/>
                <a:cs typeface="Arial"/>
              </a:rPr>
              <a:t>De fire typene sammenlignet</a:t>
            </a:r>
          </a:p>
        </p:txBody>
      </p:sp>
      <p:sp>
        <p:nvSpPr>
          <p:cNvPr id="2" name="">
            <a:extLst xmlns:a="http://schemas.openxmlformats.org/drawingml/2006/main">
              <a:ext uri="{FF2B5EF4-FFF2-40B4-BE49-F238E27FC236}">
                <a16:creationId xmlns:a16="http://schemas.microsoft.com/office/drawing/2014/main" id="{DC4BB6A3-A2D4-46E1-9038-1C77E270A3EC}"/>
              </a:ext>
            </a:extLst>
          </p:cNvPr>
          <p:cNvSpPr>
            <a:spLocks xmlns:a="http://schemas.openxmlformats.org/drawingml/2006/main" noGrp="1"/>
          </p:cNvSpPr>
          <p:nvPr/>
        </p:nvSpPr>
        <p:spPr>
          <a:xfrm xmlns:a="http://schemas.openxmlformats.org/drawingml/2006/main">
            <a:off x="609600" y="14382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674"/>
                </a:solidFill>
                <a:latin typeface="Arial"/>
                <a:ea typeface="Arial"/>
                <a:cs typeface="Arial"/>
              </a:defRPr>
            </a:pPr>
            <a:r>
              <a:rPr sz="1875" b="0">
                <a:solidFill>
                  <a:srgbClr val="526674"/>
                </a:solidFill>
                <a:latin typeface="Arial"/>
                <a:ea typeface="Arial"/>
                <a:cs typeface="Arial"/>
              </a:rPr>
              <a:t>Standard og Agent finnes i dag. standAlone og «fri» er under utvikling.</a:t>
            </a:r>
          </a:p>
        </p:txBody>
      </p:sp>
      <p:sp>
        <p:nvSpPr>
          <p:cNvPr id="3" name="">
            <a:extLst xmlns:a="http://schemas.openxmlformats.org/drawingml/2006/main">
              <a:ext uri="{FF2B5EF4-FFF2-40B4-BE49-F238E27FC236}">
                <a16:creationId xmlns:a16="http://schemas.microsoft.com/office/drawing/2014/main" id="{05488E89-8AA9-4D72-BB9E-87B887CC8334}"/>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674"/>
                </a:solidFill>
                <a:latin typeface="Arial"/>
                <a:ea typeface="Arial"/>
                <a:cs typeface="Arial"/>
              </a:defRPr>
            </a:pPr>
            <a:r>
              <a:rPr sz="1350" b="0">
                <a:solidFill>
                  <a:srgbClr val="526674"/>
                </a:solidFill>
                <a:latin typeface="Arial"/>
                <a:ea typeface="Arial"/>
                <a:cs typeface="Arial"/>
              </a:rPr>
              <a:t>03</a:t>
            </a:r>
          </a:p>
        </p:txBody>
      </p:sp>
      <p:graphicFrame>
        <p:nvGraphicFramePr>
          <p:cNvPr id="11" name=""/>
          <p:cNvGraphicFramePr/>
          <p:nvPr/>
        </p:nvGraphicFramePr>
        <p:xfrm>
          <a:off xmlns:a="http://schemas.openxmlformats.org/drawingml/2006/main" x="609600" y="2152650"/>
          <a:ext xmlns:a="http://schemas.openxmlformats.org/drawingml/2006/main" cx="10972800" cy="3705225"/>
        </p:xfrm>
        <a:graphic xmlns:a="http://schemas.openxmlformats.org/drawingml/2006/main">
          <a:graphicData uri="http://schemas.openxmlformats.org/drawingml/2006/table">
            <a:tbl>
              <a:tblPr/>
              <a:tblGrid>
                <a:gridCol w="1762125"/>
                <a:gridCol w="2952750"/>
                <a:gridCol w="3143250"/>
                <a:gridCol w="3114675"/>
              </a:tblGrid>
              <a:tr h="609600">
                <a:tc>
                  <a:txBody>
                    <a:bodyPr/>
                    <a:lstStyle/>
                    <a:p>
                      <a:r>
                        <a:rPr sz="1800" b="1">
                          <a:solidFill>
                            <a:srgbClr val="FFFFFF"/>
                          </a:solidFill>
                          <a:latin typeface="Arial"/>
                          <a:ea typeface="Arial"/>
                          <a:cs typeface="Arial"/>
                        </a:rPr>
                        <a:t>Type</a:t>
                      </a:r>
                    </a:p>
                  </a:txBody>
                  <a:tcPr marL="91440" marR="91440" marT="45720" marB="45720">
                    <a:solidFill>
                      <a:srgbClr val="102C40"/>
                    </a:solidFill>
                  </a:tcPr>
                </a:tc>
                <a:tc>
                  <a:txBody>
                    <a:bodyPr/>
                    <a:lstStyle/>
                    <a:p>
                      <a:r>
                        <a:rPr sz="1800" b="1">
                          <a:solidFill>
                            <a:srgbClr val="FFFFFF"/>
                          </a:solidFill>
                          <a:latin typeface="Arial"/>
                          <a:ea typeface="Arial"/>
                          <a:cs typeface="Arial"/>
                        </a:rPr>
                        <a:t>Systemtilknytning</a:t>
                      </a:r>
                    </a:p>
                  </a:txBody>
                  <a:tcPr marL="91440" marR="91440" marT="45720" marB="45720">
                    <a:solidFill>
                      <a:srgbClr val="102C40"/>
                    </a:solidFill>
                  </a:tcPr>
                </a:tc>
                <a:tc>
                  <a:txBody>
                    <a:bodyPr/>
                    <a:lstStyle/>
                    <a:p>
                      <a:r>
                        <a:rPr sz="1800" b="1">
                          <a:solidFill>
                            <a:srgbClr val="FFFFFF"/>
                          </a:solidFill>
                          <a:latin typeface="Arial"/>
                          <a:ea typeface="Arial"/>
                          <a:cs typeface="Arial"/>
                        </a:rPr>
                        <a:t>Krav ved opprettelse</a:t>
                      </a:r>
                    </a:p>
                  </a:txBody>
                  <a:tcPr marL="91440" marR="91440" marT="45720" marB="45720">
                    <a:solidFill>
                      <a:srgbClr val="102C40"/>
                    </a:solidFill>
                  </a:tcPr>
                </a:tc>
                <a:tc>
                  <a:txBody>
                    <a:bodyPr/>
                    <a:lstStyle/>
                    <a:p>
                      <a:r>
                        <a:rPr sz="1800" b="1">
                          <a:solidFill>
                            <a:srgbClr val="FFFFFF"/>
                          </a:solidFill>
                          <a:latin typeface="Arial"/>
                          <a:ea typeface="Arial"/>
                          <a:cs typeface="Arial"/>
                        </a:rPr>
                        <a:t>Hvordan tilgang gis</a:t>
                      </a:r>
                    </a:p>
                  </a:txBody>
                  <a:tcPr marL="91440" marR="91440" marT="45720" marB="45720">
                    <a:solidFill>
                      <a:srgbClr val="102C40"/>
                    </a:solidFill>
                  </a:tcPr>
                </a:tc>
              </a:tr>
              <a:tr h="773906">
                <a:tc>
                  <a:txBody>
                    <a:bodyPr/>
                    <a:lstStyle/>
                    <a:p>
                      <a:r>
                        <a:rPr sz="1800" b="1">
                          <a:solidFill>
                            <a:srgbClr val="163548"/>
                          </a:solidFill>
                          <a:latin typeface="Arial"/>
                          <a:ea typeface="Arial"/>
                          <a:cs typeface="Arial"/>
                        </a:rPr>
                        <a:t>Standard</a:t>
                      </a:r>
                    </a:p>
                  </a:txBody>
                  <a:tcPr marL="91440" marR="91440" marT="45720" marB="45720">
                    <a:solidFill>
                      <a:srgbClr val="FFFFFF"/>
                    </a:solidFill>
                  </a:tcPr>
                </a:tc>
                <a:tc>
                  <a:txBody>
                    <a:bodyPr/>
                    <a:lstStyle/>
                    <a:p>
                      <a:r>
                        <a:rPr sz="1800" b="0">
                          <a:solidFill>
                            <a:srgbClr val="163548"/>
                          </a:solidFill>
                          <a:latin typeface="Arial"/>
                          <a:ea typeface="Arial"/>
                          <a:cs typeface="Arial"/>
                        </a:rPr>
                        <a:t>Registrert system</a:t>
                      </a:r>
                    </a:p>
                  </a:txBody>
                  <a:tcPr marL="91440" marR="91440" marT="45720" marB="45720">
                    <a:solidFill>
                      <a:srgbClr val="FFFFFF"/>
                    </a:solidFill>
                  </a:tcPr>
                </a:tc>
                <a:tc>
                  <a:txBody>
                    <a:bodyPr/>
                    <a:lstStyle/>
                    <a:p>
                      <a:r>
                        <a:rPr sz="1800" b="0">
                          <a:solidFill>
                            <a:srgbClr val="163548"/>
                          </a:solidFill>
                          <a:latin typeface="Arial"/>
                          <a:ea typeface="Arial"/>
                          <a:cs typeface="Arial"/>
                        </a:rPr>
                        <a:t>Tilgangspakker og/eller</a:t>
                      </a:r>
                    </a:p>
                    <a:p>
                      <a:r>
                        <a:rPr sz="1800" b="0">
                          <a:solidFill>
                            <a:srgbClr val="163548"/>
                          </a:solidFill>
                          <a:latin typeface="Arial"/>
                          <a:ea typeface="Arial"/>
                          <a:cs typeface="Arial"/>
                        </a:rPr>
                        <a:t>enkeltrettigheter</a:t>
                      </a:r>
                    </a:p>
                  </a:txBody>
                  <a:tcPr marL="91440" marR="91440" marT="45720" marB="45720">
                    <a:solidFill>
                      <a:srgbClr val="FFFFFF"/>
                    </a:solidFill>
                  </a:tcPr>
                </a:tc>
                <a:tc>
                  <a:txBody>
                    <a:bodyPr/>
                    <a:lstStyle/>
                    <a:p>
                      <a:r>
                        <a:rPr sz="1800" b="0">
                          <a:solidFill>
                            <a:srgbClr val="163548"/>
                          </a:solidFill>
                          <a:latin typeface="Arial"/>
                          <a:ea typeface="Arial"/>
                          <a:cs typeface="Arial"/>
                        </a:rPr>
                        <a:t>Godkjenning av</a:t>
                      </a:r>
                    </a:p>
                    <a:p>
                      <a:r>
                        <a:rPr sz="1800" b="0">
                          <a:solidFill>
                            <a:srgbClr val="163548"/>
                          </a:solidFill>
                          <a:latin typeface="Arial"/>
                          <a:ea typeface="Arial"/>
                          <a:cs typeface="Arial"/>
                        </a:rPr>
                        <a:t>etterspurte tilganger</a:t>
                      </a:r>
                    </a:p>
                  </a:txBody>
                  <a:tcPr marL="91440" marR="91440" marT="45720" marB="45720">
                    <a:solidFill>
                      <a:srgbClr val="FFFFFF"/>
                    </a:solidFill>
                  </a:tcPr>
                </a:tc>
              </a:tr>
              <a:tr h="773906">
                <a:tc>
                  <a:txBody>
                    <a:bodyPr/>
                    <a:lstStyle/>
                    <a:p>
                      <a:r>
                        <a:rPr sz="1800" b="1">
                          <a:solidFill>
                            <a:srgbClr val="163548"/>
                          </a:solidFill>
                          <a:latin typeface="Arial"/>
                          <a:ea typeface="Arial"/>
                          <a:cs typeface="Arial"/>
                        </a:rPr>
                        <a:t>Agent</a:t>
                      </a:r>
                    </a:p>
                  </a:txBody>
                  <a:tcPr marL="91440" marR="91440" marT="45720" marB="45720">
                    <a:solidFill>
                      <a:srgbClr val="E6F0ED"/>
                    </a:solidFill>
                  </a:tcPr>
                </a:tc>
                <a:tc>
                  <a:txBody>
                    <a:bodyPr/>
                    <a:lstStyle/>
                    <a:p>
                      <a:r>
                        <a:rPr sz="1800" b="0">
                          <a:solidFill>
                            <a:srgbClr val="163548"/>
                          </a:solidFill>
                          <a:latin typeface="Arial"/>
                          <a:ea typeface="Arial"/>
                          <a:cs typeface="Arial"/>
                        </a:rPr>
                        <a:t>Registrert system</a:t>
                      </a:r>
                    </a:p>
                  </a:txBody>
                  <a:tcPr marL="91440" marR="91440" marT="45720" marB="45720">
                    <a:solidFill>
                      <a:srgbClr val="E6F0ED"/>
                    </a:solidFill>
                  </a:tcPr>
                </a:tc>
                <a:tc>
                  <a:txBody>
                    <a:bodyPr/>
                    <a:lstStyle/>
                    <a:p>
                      <a:r>
                        <a:rPr sz="1800" b="0">
                          <a:solidFill>
                            <a:srgbClr val="163548"/>
                          </a:solidFill>
                          <a:latin typeface="Arial"/>
                          <a:ea typeface="Arial"/>
                          <a:cs typeface="Arial"/>
                        </a:rPr>
                        <a:t>Tilgangspakker</a:t>
                      </a:r>
                    </a:p>
                    <a:p>
                      <a:r>
                        <a:rPr sz="1800" b="0">
                          <a:solidFill>
                            <a:srgbClr val="163548"/>
                          </a:solidFill>
                          <a:latin typeface="Arial"/>
                          <a:ea typeface="Arial"/>
                          <a:cs typeface="Arial"/>
                        </a:rPr>
                        <a:t>for klientforhold</a:t>
                      </a:r>
                    </a:p>
                  </a:txBody>
                  <a:tcPr marL="91440" marR="91440" marT="45720" marB="45720">
                    <a:solidFill>
                      <a:srgbClr val="E6F0ED"/>
                    </a:solidFill>
                  </a:tcPr>
                </a:tc>
                <a:tc>
                  <a:txBody>
                    <a:bodyPr/>
                    <a:lstStyle/>
                    <a:p>
                      <a:r>
                        <a:rPr sz="1800" b="0">
                          <a:solidFill>
                            <a:srgbClr val="163548"/>
                          </a:solidFill>
                          <a:latin typeface="Arial"/>
                          <a:ea typeface="Arial"/>
                          <a:cs typeface="Arial"/>
                        </a:rPr>
                        <a:t>Klientdelegering etter</a:t>
                      </a:r>
                    </a:p>
                    <a:p>
                      <a:r>
                        <a:rPr sz="1800" b="0">
                          <a:solidFill>
                            <a:srgbClr val="163548"/>
                          </a:solidFill>
                          <a:latin typeface="Arial"/>
                          <a:ea typeface="Arial"/>
                          <a:cs typeface="Arial"/>
                        </a:rPr>
                        <a:t>godkjent opprettelse</a:t>
                      </a:r>
                    </a:p>
                  </a:txBody>
                  <a:tcPr marL="91440" marR="91440" marT="45720" marB="45720">
                    <a:solidFill>
                      <a:srgbClr val="E6F0ED"/>
                    </a:solidFill>
                  </a:tcPr>
                </a:tc>
              </a:tr>
              <a:tr h="773906">
                <a:tc>
                  <a:txBody>
                    <a:bodyPr/>
                    <a:lstStyle/>
                    <a:p>
                      <a:r>
                        <a:rPr sz="1800" b="1">
                          <a:solidFill>
                            <a:srgbClr val="163548"/>
                          </a:solidFill>
                          <a:latin typeface="Arial"/>
                          <a:ea typeface="Arial"/>
                          <a:cs typeface="Arial"/>
                        </a:rPr>
                        <a:t>standAlone</a:t>
                      </a:r>
                    </a:p>
                  </a:txBody>
                  <a:tcPr marL="91440" marR="91440" marT="45720" marB="45720">
                    <a:solidFill>
                      <a:srgbClr val="FFFFFF"/>
                    </a:solidFill>
                  </a:tcPr>
                </a:tc>
                <a:tc>
                  <a:txBody>
                    <a:bodyPr/>
                    <a:lstStyle/>
                    <a:p>
                      <a:r>
                        <a:rPr sz="1800" b="0">
                          <a:solidFill>
                            <a:srgbClr val="163548"/>
                          </a:solidFill>
                          <a:latin typeface="Arial"/>
                          <a:ea typeface="Arial"/>
                          <a:cs typeface="Arial"/>
                        </a:rPr>
                        <a:t>Egen organisasjon.</a:t>
                      </a:r>
                    </a:p>
                    <a:p>
                      <a:r>
                        <a:rPr sz="1800" b="0">
                          <a:solidFill>
                            <a:srgbClr val="163548"/>
                          </a:solidFill>
                          <a:latin typeface="Arial"/>
                          <a:ea typeface="Arial"/>
                          <a:cs typeface="Arial"/>
                        </a:rPr>
                        <a:t>Ingen egen registrering</a:t>
                      </a:r>
                    </a:p>
                    <a:p>
                      <a:r>
                        <a:rPr sz="1800" b="0">
                          <a:solidFill>
                            <a:srgbClr val="163548"/>
                          </a:solidFill>
                          <a:latin typeface="Arial"/>
                          <a:ea typeface="Arial"/>
                          <a:cs typeface="Arial"/>
                        </a:rPr>
                        <a:t>av system nødvendig.</a:t>
                      </a:r>
                    </a:p>
                  </a:txBody>
                  <a:tcPr marL="91440" marR="91440" marT="45720" marB="45720">
                    <a:solidFill>
                      <a:srgbClr val="FFFFFF"/>
                    </a:solidFill>
                  </a:tcPr>
                </a:tc>
                <a:tc>
                  <a:txBody>
                    <a:bodyPr/>
                    <a:lstStyle/>
                    <a:p>
                      <a:r>
                        <a:rPr sz="1800" b="0">
                          <a:solidFill>
                            <a:srgbClr val="163548"/>
                          </a:solidFill>
                          <a:latin typeface="Arial"/>
                          <a:ea typeface="Arial"/>
                          <a:cs typeface="Arial"/>
                        </a:rPr>
                        <a:t>Ingen forhåndsdefinert</a:t>
                      </a:r>
                    </a:p>
                    <a:p>
                      <a:r>
                        <a:rPr sz="1800" b="0">
                          <a:solidFill>
                            <a:srgbClr val="163548"/>
                          </a:solidFill>
                          <a:latin typeface="Arial"/>
                          <a:ea typeface="Arial"/>
                          <a:cs typeface="Arial"/>
                        </a:rPr>
                        <a:t>rettighetsprofil</a:t>
                      </a:r>
                    </a:p>
                  </a:txBody>
                  <a:tcPr marL="91440" marR="91440" marT="45720" marB="45720">
                    <a:solidFill>
                      <a:srgbClr val="FFFFFF"/>
                    </a:solidFill>
                  </a:tcPr>
                </a:tc>
                <a:tc>
                  <a:txBody>
                    <a:bodyPr/>
                    <a:lstStyle/>
                    <a:p>
                      <a:r>
                        <a:rPr sz="1800" b="0">
                          <a:solidFill>
                            <a:srgbClr val="163548"/>
                          </a:solidFill>
                          <a:latin typeface="Arial"/>
                          <a:ea typeface="Arial"/>
                          <a:cs typeface="Arial"/>
                        </a:rPr>
                        <a:t>Separat delegering i</a:t>
                      </a:r>
                    </a:p>
                    <a:p>
                      <a:r>
                        <a:rPr sz="1800" b="0">
                          <a:solidFill>
                            <a:srgbClr val="163548"/>
                          </a:solidFill>
                          <a:latin typeface="Arial"/>
                          <a:ea typeface="Arial"/>
                          <a:cs typeface="Arial"/>
                        </a:rPr>
                        <a:t>vanlig tilgangsstyring</a:t>
                      </a:r>
                    </a:p>
                  </a:txBody>
                  <a:tcPr marL="91440" marR="91440" marT="45720" marB="45720">
                    <a:solidFill>
                      <a:srgbClr val="FFFFFF"/>
                    </a:solidFill>
                  </a:tcPr>
                </a:tc>
              </a:tr>
              <a:tr h="773906">
                <a:tc>
                  <a:txBody>
                    <a:bodyPr/>
                    <a:lstStyle/>
                    <a:p>
                      <a:r>
                        <a:rPr sz="1800" b="1">
                          <a:solidFill>
                            <a:srgbClr val="163548"/>
                          </a:solidFill>
                          <a:latin typeface="Arial"/>
                          <a:ea typeface="Arial"/>
                          <a:cs typeface="Arial"/>
                        </a:rPr>
                        <a:t>«Fri»</a:t>
                      </a:r>
                    </a:p>
                  </a:txBody>
                  <a:tcPr marL="91440" marR="91440" marT="45720" marB="45720">
                    <a:solidFill>
                      <a:srgbClr val="E6F0ED"/>
                    </a:solidFill>
                  </a:tcPr>
                </a:tc>
                <a:tc>
                  <a:txBody>
                    <a:bodyPr/>
                    <a:lstStyle/>
                    <a:p>
                      <a:r>
                        <a:rPr sz="1800" b="0">
                          <a:solidFill>
                            <a:srgbClr val="163548"/>
                          </a:solidFill>
                          <a:latin typeface="Arial"/>
                          <a:ea typeface="Arial"/>
                          <a:cs typeface="Arial"/>
                        </a:rPr>
                        <a:t>Registrert system</a:t>
                      </a:r>
                    </a:p>
                  </a:txBody>
                  <a:tcPr marL="91440" marR="91440" marT="45720" marB="45720">
                    <a:solidFill>
                      <a:srgbClr val="E6F0ED"/>
                    </a:solidFill>
                  </a:tcPr>
                </a:tc>
                <a:tc>
                  <a:txBody>
                    <a:bodyPr/>
                    <a:lstStyle/>
                    <a:p>
                      <a:r>
                        <a:rPr sz="1800" b="0">
                          <a:solidFill>
                            <a:srgbClr val="163548"/>
                          </a:solidFill>
                          <a:latin typeface="Arial"/>
                          <a:ea typeface="Arial"/>
                          <a:cs typeface="Arial"/>
                        </a:rPr>
                        <a:t>Ingen pakke- eller</a:t>
                      </a:r>
                    </a:p>
                    <a:p>
                      <a:r>
                        <a:rPr sz="1800" b="0">
                          <a:solidFill>
                            <a:srgbClr val="163548"/>
                          </a:solidFill>
                          <a:latin typeface="Arial"/>
                          <a:ea typeface="Arial"/>
                          <a:cs typeface="Arial"/>
                        </a:rPr>
                        <a:t>enkeltrettighetskrav</a:t>
                      </a:r>
                    </a:p>
                  </a:txBody>
                  <a:tcPr marL="91440" marR="91440" marT="45720" marB="45720">
                    <a:solidFill>
                      <a:srgbClr val="E6F0ED"/>
                    </a:solidFill>
                  </a:tcPr>
                </a:tc>
                <a:tc>
                  <a:txBody>
                    <a:bodyPr/>
                    <a:lstStyle/>
                    <a:p>
                      <a:r>
                        <a:rPr sz="1800" b="0">
                          <a:solidFill>
                            <a:srgbClr val="163548"/>
                          </a:solidFill>
                          <a:latin typeface="Arial"/>
                          <a:ea typeface="Arial"/>
                          <a:cs typeface="Arial"/>
                        </a:rPr>
                        <a:t>Separat delegering</a:t>
                      </a:r>
                    </a:p>
                    <a:p>
                      <a:r>
                        <a:rPr sz="1800" b="0">
                          <a:solidFill>
                            <a:srgbClr val="163548"/>
                          </a:solidFill>
                          <a:latin typeface="Arial"/>
                          <a:ea typeface="Arial"/>
                          <a:cs typeface="Arial"/>
                        </a:rPr>
                        <a:t>etter opprettelse</a:t>
                      </a:r>
                    </a:p>
                  </a:txBody>
                  <a:tcPr marL="91440" marR="91440" marT="45720" marB="45720">
                    <a:solidFill>
                      <a:srgbClr val="E6F0ED"/>
                    </a:solidFill>
                  </a:tcPr>
                </a:tc>
              </a:tr>
            </a:tbl>
          </a:graphicData>
        </a:graphic>
      </p:graphicFrame>
      <p:sp>
        <p:nvSpPr>
          <p:cNvPr id="5" name="">
            <a:extLst xmlns:a="http://schemas.openxmlformats.org/drawingml/2006/main">
              <a:ext uri="{FF2B5EF4-FFF2-40B4-BE49-F238E27FC236}">
                <a16:creationId xmlns:a16="http://schemas.microsoft.com/office/drawing/2014/main" id="{AB0EB7F0-26CC-4262-BAA8-C338505A1734}"/>
              </a:ext>
            </a:extLst>
          </p:cNvPr>
          <p:cNvSpPr>
            <a:spLocks xmlns:a="http://schemas.openxmlformats.org/drawingml/2006/main" noGrp="1"/>
          </p:cNvSpPr>
          <p:nvPr/>
        </p:nvSpPr>
        <p:spPr>
          <a:xfrm xmlns:a="http://schemas.openxmlformats.org/drawingml/2006/main">
            <a:off x="609600" y="60198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26674"/>
                </a:solidFill>
                <a:latin typeface="Arial"/>
                <a:ea typeface="Arial"/>
                <a:cs typeface="Arial"/>
              </a:defRPr>
            </a:pPr>
            <a:r>
              <a:rPr sz="1500" b="0">
                <a:solidFill>
                  <a:srgbClr val="526674"/>
                </a:solidFill>
                <a:latin typeface="Arial"/>
                <a:ea typeface="Arial"/>
                <a:cs typeface="Arial"/>
              </a:rPr>
              <a:t>«Fri» kan kombinere ulike klienttyper og egen virksomhet. Agent støtter i dag kun tilgangspakker.</a:t>
            </a:r>
          </a:p>
        </p:txBody>
      </p:sp>
    </p:spTree>
    <p:extLst>
      <p:ext uri="{BB962C8B-B14F-4D97-AF65-F5344CB8AC3E}">
        <p14:creationId xmlns:p14="http://schemas.microsoft.com/office/powerpoint/2010/main" val="1246822896"/>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29016E-BCCA-49B5-AB6E-9D79140367D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548"/>
                </a:solidFill>
                <a:latin typeface="Arial"/>
                <a:ea typeface="Arial"/>
                <a:cs typeface="Arial"/>
              </a:defRPr>
            </a:pPr>
            <a:r>
              <a:rPr sz="3450" b="1">
                <a:solidFill>
                  <a:srgbClr val="163548"/>
                </a:solidFill>
                <a:latin typeface="Arial"/>
                <a:ea typeface="Arial"/>
                <a:cs typeface="Arial"/>
              </a:rPr>
              <a:t>Standard</a:t>
            </a:r>
          </a:p>
        </p:txBody>
      </p:sp>
      <p:sp>
        <p:nvSpPr>
          <p:cNvPr id="2" name="">
            <a:extLst xmlns:a="http://schemas.openxmlformats.org/drawingml/2006/main">
              <a:ext uri="{FF2B5EF4-FFF2-40B4-BE49-F238E27FC236}">
                <a16:creationId xmlns:a16="http://schemas.microsoft.com/office/drawing/2014/main" id="{1CF18490-B796-4D6E-80E8-B56B5BFEC8C9}"/>
              </a:ext>
            </a:extLst>
          </p:cNvPr>
          <p:cNvSpPr>
            <a:spLocks xmlns:a="http://schemas.openxmlformats.org/drawingml/2006/main" noGrp="1"/>
          </p:cNvSpPr>
          <p:nvPr/>
        </p:nvSpPr>
        <p:spPr>
          <a:xfrm xmlns:a="http://schemas.openxmlformats.org/drawingml/2006/main">
            <a:off x="609600" y="14382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674"/>
                </a:solidFill>
                <a:latin typeface="Arial"/>
                <a:ea typeface="Arial"/>
                <a:cs typeface="Arial"/>
              </a:defRPr>
            </a:pPr>
            <a:r>
              <a:rPr sz="1875" b="0">
                <a:solidFill>
                  <a:srgbClr val="526674"/>
                </a:solidFill>
                <a:latin typeface="Arial"/>
                <a:ea typeface="Arial"/>
                <a:cs typeface="Arial"/>
              </a:rPr>
              <a:t>Systembruker for egen virksomhet</a:t>
            </a:r>
          </a:p>
        </p:txBody>
      </p:sp>
      <p:sp>
        <p:nvSpPr>
          <p:cNvPr id="3" name="">
            <a:extLst xmlns:a="http://schemas.openxmlformats.org/drawingml/2006/main">
              <a:ext uri="{FF2B5EF4-FFF2-40B4-BE49-F238E27FC236}">
                <a16:creationId xmlns:a16="http://schemas.microsoft.com/office/drawing/2014/main" id="{E038096D-8AF2-41FB-BBCD-3CB55A18114C}"/>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674"/>
                </a:solidFill>
                <a:latin typeface="Arial"/>
                <a:ea typeface="Arial"/>
                <a:cs typeface="Arial"/>
              </a:defRPr>
            </a:pPr>
            <a:r>
              <a:rPr sz="1350" b="0">
                <a:solidFill>
                  <a:srgbClr val="526674"/>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FF06C15-5351-4981-8D39-05B90EADD22D}"/>
              </a:ext>
            </a:extLst>
          </p:cNvPr>
          <p:cNvSpPr>
            <a:spLocks xmlns:a="http://schemas.openxmlformats.org/drawingml/2006/main" noGrp="1"/>
          </p:cNvSpPr>
          <p:nvPr/>
        </p:nvSpPr>
        <p:spPr>
          <a:xfrm xmlns:a="http://schemas.openxmlformats.org/drawingml/2006/main">
            <a:off x="609600" y="2305050"/>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Tilknytning</a:t>
            </a:r>
          </a:p>
        </p:txBody>
      </p:sp>
      <p:sp>
        <p:nvSpPr>
          <p:cNvPr id="5" name="">
            <a:extLst xmlns:a="http://schemas.openxmlformats.org/drawingml/2006/main">
              <a:ext uri="{FF2B5EF4-FFF2-40B4-BE49-F238E27FC236}">
                <a16:creationId xmlns:a16="http://schemas.microsoft.com/office/drawing/2014/main" id="{26425E40-D4DC-450D-B017-AA3CCC24673B}"/>
              </a:ext>
            </a:extLst>
          </p:cNvPr>
          <p:cNvSpPr>
            <a:spLocks xmlns:a="http://schemas.openxmlformats.org/drawingml/2006/main" noGrp="1"/>
          </p:cNvSpPr>
          <p:nvPr/>
        </p:nvSpPr>
        <p:spPr>
          <a:xfrm xmlns:a="http://schemas.openxmlformats.org/drawingml/2006/main">
            <a:off x="3571875" y="2305050"/>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Virksomhetens systembruker er knyttet til et system i systemregisteret.</a:t>
            </a:r>
          </a:p>
        </p:txBody>
      </p:sp>
      <p:sp>
        <p:nvSpPr>
          <p:cNvPr id="6" name="">
            <a:extLst xmlns:a="http://schemas.openxmlformats.org/drawingml/2006/main">
              <a:ext uri="{FF2B5EF4-FFF2-40B4-BE49-F238E27FC236}">
                <a16:creationId xmlns:a16="http://schemas.microsoft.com/office/drawing/2014/main" id="{2A07B225-AD71-4EE0-8419-E879E2CBCF26}"/>
              </a:ext>
            </a:extLst>
          </p:cNvPr>
          <p:cNvSpPr>
            <a:spLocks xmlns:a="http://schemas.openxmlformats.org/drawingml/2006/main" noGrp="1"/>
          </p:cNvSpPr>
          <p:nvPr/>
        </p:nvSpPr>
        <p:spPr>
          <a:xfrm xmlns:a="http://schemas.openxmlformats.org/drawingml/2006/main">
            <a:off x="609600" y="3486150"/>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Opprettelse</a:t>
            </a:r>
          </a:p>
        </p:txBody>
      </p:sp>
      <p:sp>
        <p:nvSpPr>
          <p:cNvPr id="7" name="">
            <a:extLst xmlns:a="http://schemas.openxmlformats.org/drawingml/2006/main">
              <a:ext uri="{FF2B5EF4-FFF2-40B4-BE49-F238E27FC236}">
                <a16:creationId xmlns:a16="http://schemas.microsoft.com/office/drawing/2014/main" id="{3ECADE81-DF56-429A-BA2B-46E7146786F8}"/>
              </a:ext>
            </a:extLst>
          </p:cNvPr>
          <p:cNvSpPr>
            <a:spLocks xmlns:a="http://schemas.openxmlformats.org/drawingml/2006/main" noGrp="1"/>
          </p:cNvSpPr>
          <p:nvPr/>
        </p:nvSpPr>
        <p:spPr>
          <a:xfrm xmlns:a="http://schemas.openxmlformats.org/drawingml/2006/main">
            <a:off x="3571875" y="3486150"/>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Virksomheten godkjenner de tilgangene systemet eller forespørselen ber om.</a:t>
            </a:r>
          </a:p>
        </p:txBody>
      </p:sp>
      <p:sp>
        <p:nvSpPr>
          <p:cNvPr id="8" name="">
            <a:extLst xmlns:a="http://schemas.openxmlformats.org/drawingml/2006/main">
              <a:ext uri="{FF2B5EF4-FFF2-40B4-BE49-F238E27FC236}">
                <a16:creationId xmlns:a16="http://schemas.microsoft.com/office/drawing/2014/main" id="{10E49158-45A1-4DB0-95A9-4CDC3093AD02}"/>
              </a:ext>
            </a:extLst>
          </p:cNvPr>
          <p:cNvSpPr>
            <a:spLocks xmlns:a="http://schemas.openxmlformats.org/drawingml/2006/main" noGrp="1"/>
          </p:cNvSpPr>
          <p:nvPr/>
        </p:nvSpPr>
        <p:spPr>
          <a:xfrm xmlns:a="http://schemas.openxmlformats.org/drawingml/2006/main">
            <a:off x="609600" y="4667250"/>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Tilganger</a:t>
            </a:r>
          </a:p>
        </p:txBody>
      </p:sp>
      <p:sp>
        <p:nvSpPr>
          <p:cNvPr id="9" name="">
            <a:extLst xmlns:a="http://schemas.openxmlformats.org/drawingml/2006/main">
              <a:ext uri="{FF2B5EF4-FFF2-40B4-BE49-F238E27FC236}">
                <a16:creationId xmlns:a16="http://schemas.microsoft.com/office/drawing/2014/main" id="{7387C9F3-219D-4DB5-8085-D6CD33591809}"/>
              </a:ext>
            </a:extLst>
          </p:cNvPr>
          <p:cNvSpPr>
            <a:spLocks xmlns:a="http://schemas.openxmlformats.org/drawingml/2006/main" noGrp="1"/>
          </p:cNvSpPr>
          <p:nvPr/>
        </p:nvSpPr>
        <p:spPr>
          <a:xfrm xmlns:a="http://schemas.openxmlformats.org/drawingml/2006/main">
            <a:off x="3571875" y="4667250"/>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Tilgangspakker og enkeltrettigheter kan inngå i opprettelsen.</a:t>
            </a:r>
          </a:p>
        </p:txBody>
      </p:sp>
      <p:sp>
        <p:nvSpPr>
          <p:cNvPr id="10" name="">
            <a:extLst xmlns:a="http://schemas.openxmlformats.org/drawingml/2006/main">
              <a:ext uri="{FF2B5EF4-FFF2-40B4-BE49-F238E27FC236}">
                <a16:creationId xmlns:a16="http://schemas.microsoft.com/office/drawing/2014/main" id="{6A3DD365-4AB2-46E0-BD83-96EB7F91E4BC}"/>
              </a:ext>
            </a:extLst>
          </p:cNvPr>
          <p:cNvSpPr>
            <a:spLocks xmlns:a="http://schemas.openxmlformats.org/drawingml/2006/main" noGrp="1"/>
          </p:cNvSpPr>
          <p:nvPr/>
        </p:nvSpPr>
        <p:spPr>
          <a:xfrm xmlns:a="http://schemas.openxmlformats.org/drawingml/2006/main">
            <a:off x="609600" y="59531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087F80"/>
                </a:solidFill>
                <a:latin typeface="Arial"/>
                <a:ea typeface="Arial"/>
                <a:cs typeface="Arial"/>
              </a:defRPr>
            </a:pPr>
            <a:r>
              <a:rPr sz="1725" b="0">
                <a:solidFill>
                  <a:srgbClr val="087F80"/>
                </a:solidFill>
                <a:latin typeface="Arial"/>
                <a:ea typeface="Arial"/>
                <a:cs typeface="Arial"/>
              </a:rPr>
              <a:t>Eksempel: En virksomhet bruker et regnskapssystem til egen rapportering.</a:t>
            </a:r>
          </a:p>
        </p:txBody>
      </p:sp>
    </p:spTree>
    <p:extLst>
      <p:ext uri="{BB962C8B-B14F-4D97-AF65-F5344CB8AC3E}">
        <p14:creationId xmlns:p14="http://schemas.microsoft.com/office/powerpoint/2010/main" val="755545503"/>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EB53C7A-DC56-405A-A1C1-AC193917523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548"/>
                </a:solidFill>
                <a:latin typeface="Arial"/>
                <a:ea typeface="Arial"/>
                <a:cs typeface="Arial"/>
              </a:defRPr>
            </a:pPr>
            <a:r>
              <a:rPr sz="3450" b="1">
                <a:solidFill>
                  <a:srgbClr val="163548"/>
                </a:solidFill>
                <a:latin typeface="Arial"/>
                <a:ea typeface="Arial"/>
                <a:cs typeface="Arial"/>
              </a:rPr>
              <a:t>Agent</a:t>
            </a:r>
          </a:p>
        </p:txBody>
      </p:sp>
      <p:sp>
        <p:nvSpPr>
          <p:cNvPr id="2" name="">
            <a:extLst xmlns:a="http://schemas.openxmlformats.org/drawingml/2006/main">
              <a:ext uri="{FF2B5EF4-FFF2-40B4-BE49-F238E27FC236}">
                <a16:creationId xmlns:a16="http://schemas.microsoft.com/office/drawing/2014/main" id="{9AC49D21-04E9-4CAF-AD43-564B69532727}"/>
              </a:ext>
            </a:extLst>
          </p:cNvPr>
          <p:cNvSpPr>
            <a:spLocks xmlns:a="http://schemas.openxmlformats.org/drawingml/2006/main" noGrp="1"/>
          </p:cNvSpPr>
          <p:nvPr/>
        </p:nvSpPr>
        <p:spPr>
          <a:xfrm xmlns:a="http://schemas.openxmlformats.org/drawingml/2006/main">
            <a:off x="609600" y="14382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674"/>
                </a:solidFill>
                <a:latin typeface="Arial"/>
                <a:ea typeface="Arial"/>
                <a:cs typeface="Arial"/>
              </a:defRPr>
            </a:pPr>
            <a:r>
              <a:rPr sz="1875" b="0">
                <a:solidFill>
                  <a:srgbClr val="526674"/>
                </a:solidFill>
                <a:latin typeface="Arial"/>
                <a:ea typeface="Arial"/>
                <a:cs typeface="Arial"/>
              </a:rPr>
              <a:t>Systembruker for klientforhold</a:t>
            </a:r>
          </a:p>
        </p:txBody>
      </p:sp>
      <p:sp>
        <p:nvSpPr>
          <p:cNvPr id="3" name="">
            <a:extLst xmlns:a="http://schemas.openxmlformats.org/drawingml/2006/main">
              <a:ext uri="{FF2B5EF4-FFF2-40B4-BE49-F238E27FC236}">
                <a16:creationId xmlns:a16="http://schemas.microsoft.com/office/drawing/2014/main" id="{707A4BF4-1436-40D7-BC7B-780881FD0DEC}"/>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674"/>
                </a:solidFill>
                <a:latin typeface="Arial"/>
                <a:ea typeface="Arial"/>
                <a:cs typeface="Arial"/>
              </a:defRPr>
            </a:pPr>
            <a:r>
              <a:rPr sz="1350" b="0">
                <a:solidFill>
                  <a:srgbClr val="526674"/>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56315581-DF96-444E-9717-3FCD06373D56}"/>
              </a:ext>
            </a:extLst>
          </p:cNvPr>
          <p:cNvSpPr>
            <a:spLocks xmlns:a="http://schemas.openxmlformats.org/drawingml/2006/main" noGrp="1"/>
          </p:cNvSpPr>
          <p:nvPr/>
        </p:nvSpPr>
        <p:spPr>
          <a:xfrm xmlns:a="http://schemas.openxmlformats.org/drawingml/2006/main">
            <a:off x="609600" y="2305050"/>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Tilknytning</a:t>
            </a:r>
          </a:p>
        </p:txBody>
      </p:sp>
      <p:sp>
        <p:nvSpPr>
          <p:cNvPr id="5" name="">
            <a:extLst xmlns:a="http://schemas.openxmlformats.org/drawingml/2006/main">
              <a:ext uri="{FF2B5EF4-FFF2-40B4-BE49-F238E27FC236}">
                <a16:creationId xmlns:a16="http://schemas.microsoft.com/office/drawing/2014/main" id="{26EE9424-6839-4FCB-BC7F-1C3CC323EAE1}"/>
              </a:ext>
            </a:extLst>
          </p:cNvPr>
          <p:cNvSpPr>
            <a:spLocks xmlns:a="http://schemas.openxmlformats.org/drawingml/2006/main" noGrp="1"/>
          </p:cNvSpPr>
          <p:nvPr/>
        </p:nvSpPr>
        <p:spPr>
          <a:xfrm xmlns:a="http://schemas.openxmlformats.org/drawingml/2006/main">
            <a:off x="3571875" y="2305050"/>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Tjenesteyteren eier systembrukeren, som er knyttet til et registrert system.</a:t>
            </a:r>
          </a:p>
        </p:txBody>
      </p:sp>
      <p:sp>
        <p:nvSpPr>
          <p:cNvPr id="6" name="">
            <a:extLst xmlns:a="http://schemas.openxmlformats.org/drawingml/2006/main">
              <a:ext uri="{FF2B5EF4-FFF2-40B4-BE49-F238E27FC236}">
                <a16:creationId xmlns:a16="http://schemas.microsoft.com/office/drawing/2014/main" id="{838722AE-8EDE-439D-9A7E-9F9B28F12B48}"/>
              </a:ext>
            </a:extLst>
          </p:cNvPr>
          <p:cNvSpPr>
            <a:spLocks xmlns:a="http://schemas.openxmlformats.org/drawingml/2006/main" noGrp="1"/>
          </p:cNvSpPr>
          <p:nvPr/>
        </p:nvSpPr>
        <p:spPr>
          <a:xfrm xmlns:a="http://schemas.openxmlformats.org/drawingml/2006/main">
            <a:off x="609600" y="3486150"/>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Opprettelse</a:t>
            </a:r>
          </a:p>
        </p:txBody>
      </p:sp>
      <p:sp>
        <p:nvSpPr>
          <p:cNvPr id="7" name="">
            <a:extLst xmlns:a="http://schemas.openxmlformats.org/drawingml/2006/main">
              <a:ext uri="{FF2B5EF4-FFF2-40B4-BE49-F238E27FC236}">
                <a16:creationId xmlns:a16="http://schemas.microsoft.com/office/drawing/2014/main" id="{04E6E15D-CDDC-4DCE-9B24-6EAD9B0F067E}"/>
              </a:ext>
            </a:extLst>
          </p:cNvPr>
          <p:cNvSpPr>
            <a:spLocks xmlns:a="http://schemas.openxmlformats.org/drawingml/2006/main" noGrp="1"/>
          </p:cNvSpPr>
          <p:nvPr/>
        </p:nvSpPr>
        <p:spPr>
          <a:xfrm xmlns:a="http://schemas.openxmlformats.org/drawingml/2006/main">
            <a:off x="3571875" y="3486150"/>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Leverandøren ber om tilgangspakker. Tjenesteyteren godkjenner opprettelsen.</a:t>
            </a:r>
          </a:p>
        </p:txBody>
      </p:sp>
      <p:sp>
        <p:nvSpPr>
          <p:cNvPr id="8" name="">
            <a:extLst xmlns:a="http://schemas.openxmlformats.org/drawingml/2006/main">
              <a:ext uri="{FF2B5EF4-FFF2-40B4-BE49-F238E27FC236}">
                <a16:creationId xmlns:a16="http://schemas.microsoft.com/office/drawing/2014/main" id="{524B1A21-3BD2-4E41-A78B-37F07B0F38E4}"/>
              </a:ext>
            </a:extLst>
          </p:cNvPr>
          <p:cNvSpPr>
            <a:spLocks xmlns:a="http://schemas.openxmlformats.org/drawingml/2006/main" noGrp="1"/>
          </p:cNvSpPr>
          <p:nvPr/>
        </p:nvSpPr>
        <p:spPr>
          <a:xfrm xmlns:a="http://schemas.openxmlformats.org/drawingml/2006/main">
            <a:off x="609600" y="4667250"/>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Klientdelegering</a:t>
            </a:r>
          </a:p>
        </p:txBody>
      </p:sp>
      <p:sp>
        <p:nvSpPr>
          <p:cNvPr id="9" name="">
            <a:extLst xmlns:a="http://schemas.openxmlformats.org/drawingml/2006/main">
              <a:ext uri="{FF2B5EF4-FFF2-40B4-BE49-F238E27FC236}">
                <a16:creationId xmlns:a16="http://schemas.microsoft.com/office/drawing/2014/main" id="{D86D6BBF-7861-47FC-BED3-79D1ABDC2F7D}"/>
              </a:ext>
            </a:extLst>
          </p:cNvPr>
          <p:cNvSpPr>
            <a:spLocks xmlns:a="http://schemas.openxmlformats.org/drawingml/2006/main" noGrp="1"/>
          </p:cNvSpPr>
          <p:nvPr/>
        </p:nvSpPr>
        <p:spPr>
          <a:xfrm xmlns:a="http://schemas.openxmlformats.org/drawingml/2006/main">
            <a:off x="3571875" y="4667250"/>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Klientadministrator knytter klienter til systembrukeren med grunnlag i tjenesteyterens fullmakter.</a:t>
            </a:r>
          </a:p>
        </p:txBody>
      </p:sp>
      <p:sp>
        <p:nvSpPr>
          <p:cNvPr id="10" name="">
            <a:extLst xmlns:a="http://schemas.openxmlformats.org/drawingml/2006/main">
              <a:ext uri="{FF2B5EF4-FFF2-40B4-BE49-F238E27FC236}">
                <a16:creationId xmlns:a16="http://schemas.microsoft.com/office/drawing/2014/main" id="{B1809657-BBAD-4BD2-A360-0FF136D8210B}"/>
              </a:ext>
            </a:extLst>
          </p:cNvPr>
          <p:cNvSpPr>
            <a:spLocks xmlns:a="http://schemas.openxmlformats.org/drawingml/2006/main" noGrp="1"/>
          </p:cNvSpPr>
          <p:nvPr/>
        </p:nvSpPr>
        <p:spPr>
          <a:xfrm xmlns:a="http://schemas.openxmlformats.org/drawingml/2006/main">
            <a:off x="609600" y="59531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087F80"/>
                </a:solidFill>
                <a:latin typeface="Arial"/>
                <a:ea typeface="Arial"/>
                <a:cs typeface="Arial"/>
              </a:defRPr>
            </a:pPr>
            <a:r>
              <a:rPr sz="1725" b="0">
                <a:solidFill>
                  <a:srgbClr val="087F80"/>
                </a:solidFill>
                <a:latin typeface="Arial"/>
                <a:ea typeface="Arial"/>
                <a:cs typeface="Arial"/>
              </a:rPr>
              <a:t>Eksempel: Et regnskapsbyrå rapporterer for kundene sine. Kun tilgangspakker støttes i dag.</a:t>
            </a:r>
          </a:p>
        </p:txBody>
      </p:sp>
    </p:spTree>
    <p:extLst>
      <p:ext uri="{BB962C8B-B14F-4D97-AF65-F5344CB8AC3E}">
        <p14:creationId xmlns:p14="http://schemas.microsoft.com/office/powerpoint/2010/main" val="1455103075"/>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849D21-428E-4275-8F91-A7422B56EBB5}"/>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548"/>
                </a:solidFill>
                <a:latin typeface="Arial"/>
                <a:ea typeface="Arial"/>
                <a:cs typeface="Arial"/>
              </a:defRPr>
            </a:pPr>
            <a:r>
              <a:rPr sz="3450" b="1">
                <a:solidFill>
                  <a:srgbClr val="163548"/>
                </a:solidFill>
                <a:latin typeface="Arial"/>
                <a:ea typeface="Arial"/>
                <a:cs typeface="Arial"/>
              </a:rPr>
              <a:t>standAlone</a:t>
            </a:r>
          </a:p>
        </p:txBody>
      </p:sp>
      <p:sp>
        <p:nvSpPr>
          <p:cNvPr id="2" name="">
            <a:extLst xmlns:a="http://schemas.openxmlformats.org/drawingml/2006/main">
              <a:ext uri="{FF2B5EF4-FFF2-40B4-BE49-F238E27FC236}">
                <a16:creationId xmlns:a16="http://schemas.microsoft.com/office/drawing/2014/main" id="{BAB9ACF3-1406-409A-A4CD-8EA89C95C4AB}"/>
              </a:ext>
            </a:extLst>
          </p:cNvPr>
          <p:cNvSpPr>
            <a:spLocks xmlns:a="http://schemas.openxmlformats.org/drawingml/2006/main" noGrp="1"/>
          </p:cNvSpPr>
          <p:nvPr/>
        </p:nvSpPr>
        <p:spPr>
          <a:xfrm xmlns:a="http://schemas.openxmlformats.org/drawingml/2006/main">
            <a:off x="609600" y="14382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674"/>
                </a:solidFill>
                <a:latin typeface="Arial"/>
                <a:ea typeface="Arial"/>
                <a:cs typeface="Arial"/>
              </a:defRPr>
            </a:pPr>
            <a:r>
              <a:rPr sz="1875" b="0">
                <a:solidFill>
                  <a:srgbClr val="526674"/>
                </a:solidFill>
                <a:latin typeface="Arial"/>
                <a:ea typeface="Arial"/>
                <a:cs typeface="Arial"/>
              </a:rPr>
              <a:t>Under utvikling. Navneforslag: Frittstående systembruker</a:t>
            </a:r>
          </a:p>
        </p:txBody>
      </p:sp>
      <p:sp>
        <p:nvSpPr>
          <p:cNvPr id="3" name="">
            <a:extLst xmlns:a="http://schemas.openxmlformats.org/drawingml/2006/main">
              <a:ext uri="{FF2B5EF4-FFF2-40B4-BE49-F238E27FC236}">
                <a16:creationId xmlns:a16="http://schemas.microsoft.com/office/drawing/2014/main" id="{24BDC26C-207B-49EC-ABAC-D1DD78EE72A4}"/>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674"/>
                </a:solidFill>
                <a:latin typeface="Arial"/>
                <a:ea typeface="Arial"/>
                <a:cs typeface="Arial"/>
              </a:defRPr>
            </a:pPr>
            <a:r>
              <a:rPr sz="1350" b="0">
                <a:solidFill>
                  <a:srgbClr val="526674"/>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DC10F58-F360-4D82-A542-9FE1C0F38820}"/>
              </a:ext>
            </a:extLst>
          </p:cNvPr>
          <p:cNvSpPr>
            <a:spLocks xmlns:a="http://schemas.openxmlformats.org/drawingml/2006/main" noGrp="1"/>
          </p:cNvSpPr>
          <p:nvPr/>
        </p:nvSpPr>
        <p:spPr>
          <a:xfrm xmlns:a="http://schemas.openxmlformats.org/drawingml/2006/main">
            <a:off x="609600" y="2238375"/>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Tilknytning</a:t>
            </a:r>
          </a:p>
        </p:txBody>
      </p:sp>
      <p:sp>
        <p:nvSpPr>
          <p:cNvPr id="5" name="">
            <a:extLst xmlns:a="http://schemas.openxmlformats.org/drawingml/2006/main">
              <a:ext uri="{FF2B5EF4-FFF2-40B4-BE49-F238E27FC236}">
                <a16:creationId xmlns:a16="http://schemas.microsoft.com/office/drawing/2014/main" id="{2CA8D948-5160-4D55-B55A-05ECD2980221}"/>
              </a:ext>
            </a:extLst>
          </p:cNvPr>
          <p:cNvSpPr>
            <a:spLocks xmlns:a="http://schemas.openxmlformats.org/drawingml/2006/main" noGrp="1"/>
          </p:cNvSpPr>
          <p:nvPr/>
        </p:nvSpPr>
        <p:spPr>
          <a:xfrm xmlns:a="http://schemas.openxmlformats.org/drawingml/2006/main">
            <a:off x="3571875" y="2238375"/>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Systembrukeren tilhører egen organisasjon. Virksomheten trenger ikke å opprette et eget system.</a:t>
            </a:r>
          </a:p>
        </p:txBody>
      </p:sp>
      <p:sp>
        <p:nvSpPr>
          <p:cNvPr id="6" name="">
            <a:extLst xmlns:a="http://schemas.openxmlformats.org/drawingml/2006/main">
              <a:ext uri="{FF2B5EF4-FFF2-40B4-BE49-F238E27FC236}">
                <a16:creationId xmlns:a16="http://schemas.microsoft.com/office/drawing/2014/main" id="{A9144272-6C9E-49F1-A3AA-43EEAF50FD4B}"/>
              </a:ext>
            </a:extLst>
          </p:cNvPr>
          <p:cNvSpPr>
            <a:spLocks xmlns:a="http://schemas.openxmlformats.org/drawingml/2006/main" noGrp="1"/>
          </p:cNvSpPr>
          <p:nvPr/>
        </p:nvSpPr>
        <p:spPr>
          <a:xfrm xmlns:a="http://schemas.openxmlformats.org/drawingml/2006/main">
            <a:off x="609600" y="3505200"/>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Tilgangsstyring</a:t>
            </a:r>
          </a:p>
        </p:txBody>
      </p:sp>
      <p:sp>
        <p:nvSpPr>
          <p:cNvPr id="7" name="">
            <a:extLst xmlns:a="http://schemas.openxmlformats.org/drawingml/2006/main">
              <a:ext uri="{FF2B5EF4-FFF2-40B4-BE49-F238E27FC236}">
                <a16:creationId xmlns:a16="http://schemas.microsoft.com/office/drawing/2014/main" id="{69D8E966-2D9F-4CA4-B282-C2058FE5B948}"/>
              </a:ext>
            </a:extLst>
          </p:cNvPr>
          <p:cNvSpPr>
            <a:spLocks xmlns:a="http://schemas.openxmlformats.org/drawingml/2006/main" noGrp="1"/>
          </p:cNvSpPr>
          <p:nvPr/>
        </p:nvSpPr>
        <p:spPr>
          <a:xfrm xmlns:a="http://schemas.openxmlformats.org/drawingml/2006/main">
            <a:off x="3571875" y="3505200"/>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Systembrukeren vises i vanlig tilgangsstyring. Der kan man delegere tilgangspakker og enkeltrettigheter.</a:t>
            </a:r>
          </a:p>
        </p:txBody>
      </p:sp>
      <p:sp>
        <p:nvSpPr>
          <p:cNvPr id="8" name="">
            <a:extLst xmlns:a="http://schemas.openxmlformats.org/drawingml/2006/main">
              <a:ext uri="{FF2B5EF4-FFF2-40B4-BE49-F238E27FC236}">
                <a16:creationId xmlns:a16="http://schemas.microsoft.com/office/drawing/2014/main" id="{859AB837-2A78-4D6D-8374-7B7F069F76F3}"/>
              </a:ext>
            </a:extLst>
          </p:cNvPr>
          <p:cNvSpPr>
            <a:spLocks xmlns:a="http://schemas.openxmlformats.org/drawingml/2006/main" noGrp="1"/>
          </p:cNvSpPr>
          <p:nvPr/>
        </p:nvSpPr>
        <p:spPr>
          <a:xfrm xmlns:a="http://schemas.openxmlformats.org/drawingml/2006/main">
            <a:off x="609600" y="4772025"/>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Bruk</a:t>
            </a:r>
          </a:p>
        </p:txBody>
      </p:sp>
      <p:sp>
        <p:nvSpPr>
          <p:cNvPr id="9" name="">
            <a:extLst xmlns:a="http://schemas.openxmlformats.org/drawingml/2006/main">
              <a:ext uri="{FF2B5EF4-FFF2-40B4-BE49-F238E27FC236}">
                <a16:creationId xmlns:a16="http://schemas.microsoft.com/office/drawing/2014/main" id="{5AD772CE-E997-4171-9EE5-5EFC9D7E9833}"/>
              </a:ext>
            </a:extLst>
          </p:cNvPr>
          <p:cNvSpPr>
            <a:spLocks xmlns:a="http://schemas.openxmlformats.org/drawingml/2006/main" noGrp="1"/>
          </p:cNvSpPr>
          <p:nvPr/>
        </p:nvSpPr>
        <p:spPr>
          <a:xfrm xmlns:a="http://schemas.openxmlformats.org/drawingml/2006/main">
            <a:off x="3571875" y="4772025"/>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Ingen forhåndsdefinert rettighetsprofil styrer hvilke tilganger den får. Kan også brukes i agentforhold.</a:t>
            </a:r>
          </a:p>
        </p:txBody>
      </p:sp>
    </p:spTree>
    <p:extLst>
      <p:ext uri="{BB962C8B-B14F-4D97-AF65-F5344CB8AC3E}">
        <p14:creationId xmlns:p14="http://schemas.microsoft.com/office/powerpoint/2010/main" val="863326097"/>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6B9F84F-6B01-40AC-B454-B39E145FA00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548"/>
                </a:solidFill>
                <a:latin typeface="Arial"/>
                <a:ea typeface="Arial"/>
                <a:cs typeface="Arial"/>
              </a:defRPr>
            </a:pPr>
            <a:r>
              <a:rPr sz="3450" b="1">
                <a:solidFill>
                  <a:srgbClr val="163548"/>
                </a:solidFill>
                <a:latin typeface="Arial"/>
                <a:ea typeface="Arial"/>
                <a:cs typeface="Arial"/>
              </a:rPr>
              <a:t>«Fri»</a:t>
            </a:r>
          </a:p>
        </p:txBody>
      </p:sp>
      <p:sp>
        <p:nvSpPr>
          <p:cNvPr id="2" name="">
            <a:extLst xmlns:a="http://schemas.openxmlformats.org/drawingml/2006/main">
              <a:ext uri="{FF2B5EF4-FFF2-40B4-BE49-F238E27FC236}">
                <a16:creationId xmlns:a16="http://schemas.microsoft.com/office/drawing/2014/main" id="{BDC81E7D-823A-481E-B908-C135B53064D0}"/>
              </a:ext>
            </a:extLst>
          </p:cNvPr>
          <p:cNvSpPr>
            <a:spLocks xmlns:a="http://schemas.openxmlformats.org/drawingml/2006/main" noGrp="1"/>
          </p:cNvSpPr>
          <p:nvPr/>
        </p:nvSpPr>
        <p:spPr>
          <a:xfrm xmlns:a="http://schemas.openxmlformats.org/drawingml/2006/main">
            <a:off x="609600" y="14382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674"/>
                </a:solidFill>
                <a:latin typeface="Arial"/>
                <a:ea typeface="Arial"/>
                <a:cs typeface="Arial"/>
              </a:defRPr>
            </a:pPr>
            <a:r>
              <a:rPr sz="1875" b="0">
                <a:solidFill>
                  <a:srgbClr val="526674"/>
                </a:solidFill>
                <a:latin typeface="Arial"/>
                <a:ea typeface="Arial"/>
                <a:cs typeface="Arial"/>
              </a:rPr>
              <a:t>Under utvikling. Navneforslag: Systemtilknyttet uten rettighetskrav</a:t>
            </a:r>
          </a:p>
        </p:txBody>
      </p:sp>
      <p:sp>
        <p:nvSpPr>
          <p:cNvPr id="3" name="">
            <a:extLst xmlns:a="http://schemas.openxmlformats.org/drawingml/2006/main">
              <a:ext uri="{FF2B5EF4-FFF2-40B4-BE49-F238E27FC236}">
                <a16:creationId xmlns:a16="http://schemas.microsoft.com/office/drawing/2014/main" id="{F0243F9F-2C0A-4B89-9882-23FE2ACB850F}"/>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674"/>
                </a:solidFill>
                <a:latin typeface="Arial"/>
                <a:ea typeface="Arial"/>
                <a:cs typeface="Arial"/>
              </a:defRPr>
            </a:pPr>
            <a:r>
              <a:rPr sz="1350" b="0">
                <a:solidFill>
                  <a:srgbClr val="526674"/>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7A98E00-25F9-4A1A-94B2-E7EAD07BCCD5}"/>
              </a:ext>
            </a:extLst>
          </p:cNvPr>
          <p:cNvSpPr>
            <a:spLocks xmlns:a="http://schemas.openxmlformats.org/drawingml/2006/main" noGrp="1"/>
          </p:cNvSpPr>
          <p:nvPr/>
        </p:nvSpPr>
        <p:spPr>
          <a:xfrm xmlns:a="http://schemas.openxmlformats.org/drawingml/2006/main">
            <a:off x="609600" y="2238375"/>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Tilknytning</a:t>
            </a:r>
          </a:p>
        </p:txBody>
      </p:sp>
      <p:sp>
        <p:nvSpPr>
          <p:cNvPr id="5" name="">
            <a:extLst xmlns:a="http://schemas.openxmlformats.org/drawingml/2006/main">
              <a:ext uri="{FF2B5EF4-FFF2-40B4-BE49-F238E27FC236}">
                <a16:creationId xmlns:a16="http://schemas.microsoft.com/office/drawing/2014/main" id="{FCEEDE84-541F-40B6-B9C3-E7E24671BEA4}"/>
              </a:ext>
            </a:extLst>
          </p:cNvPr>
          <p:cNvSpPr>
            <a:spLocks xmlns:a="http://schemas.openxmlformats.org/drawingml/2006/main" noGrp="1"/>
          </p:cNvSpPr>
          <p:nvPr/>
        </p:nvSpPr>
        <p:spPr>
          <a:xfrm xmlns:a="http://schemas.openxmlformats.org/drawingml/2006/main">
            <a:off x="3571875" y="2238375"/>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Systembrukeren beholder koblingen til et system i systemregisteret.</a:t>
            </a:r>
          </a:p>
        </p:txBody>
      </p:sp>
      <p:sp>
        <p:nvSpPr>
          <p:cNvPr id="6" name="">
            <a:extLst xmlns:a="http://schemas.openxmlformats.org/drawingml/2006/main">
              <a:ext uri="{FF2B5EF4-FFF2-40B4-BE49-F238E27FC236}">
                <a16:creationId xmlns:a16="http://schemas.microsoft.com/office/drawing/2014/main" id="{392B76F6-777C-4E90-9E07-E06457FF3CEB}"/>
              </a:ext>
            </a:extLst>
          </p:cNvPr>
          <p:cNvSpPr>
            <a:spLocks xmlns:a="http://schemas.openxmlformats.org/drawingml/2006/main" noGrp="1"/>
          </p:cNvSpPr>
          <p:nvPr/>
        </p:nvSpPr>
        <p:spPr>
          <a:xfrm xmlns:a="http://schemas.openxmlformats.org/drawingml/2006/main">
            <a:off x="609600" y="3476625"/>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Opprettelse</a:t>
            </a:r>
          </a:p>
        </p:txBody>
      </p:sp>
      <p:sp>
        <p:nvSpPr>
          <p:cNvPr id="7" name="">
            <a:extLst xmlns:a="http://schemas.openxmlformats.org/drawingml/2006/main">
              <a:ext uri="{FF2B5EF4-FFF2-40B4-BE49-F238E27FC236}">
                <a16:creationId xmlns:a16="http://schemas.microsoft.com/office/drawing/2014/main" id="{4274A6AC-6B2E-42C5-B3A3-BFF06CDCCEE0}"/>
              </a:ext>
            </a:extLst>
          </p:cNvPr>
          <p:cNvSpPr>
            <a:spLocks xmlns:a="http://schemas.openxmlformats.org/drawingml/2006/main" noGrp="1"/>
          </p:cNvSpPr>
          <p:nvPr/>
        </p:nvSpPr>
        <p:spPr>
          <a:xfrm xmlns:a="http://schemas.openxmlformats.org/drawingml/2006/main">
            <a:off x="3571875" y="3476625"/>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Forespørselen angir «fri». Systembrukeren opprettes uten rettigheter, selv om systemet har definerte tilganger.</a:t>
            </a:r>
          </a:p>
        </p:txBody>
      </p:sp>
      <p:sp>
        <p:nvSpPr>
          <p:cNvPr id="8" name="">
            <a:extLst xmlns:a="http://schemas.openxmlformats.org/drawingml/2006/main">
              <a:ext uri="{FF2B5EF4-FFF2-40B4-BE49-F238E27FC236}">
                <a16:creationId xmlns:a16="http://schemas.microsoft.com/office/drawing/2014/main" id="{2E81372D-3464-48F7-9186-7C0D8CCB7F3D}"/>
              </a:ext>
            </a:extLst>
          </p:cNvPr>
          <p:cNvSpPr>
            <a:spLocks xmlns:a="http://schemas.openxmlformats.org/drawingml/2006/main" noGrp="1"/>
          </p:cNvSpPr>
          <p:nvPr/>
        </p:nvSpPr>
        <p:spPr>
          <a:xfrm xmlns:a="http://schemas.openxmlformats.org/drawingml/2006/main">
            <a:off x="609600" y="4857750"/>
            <a:ext cx="2781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F80"/>
                </a:solidFill>
                <a:latin typeface="Arial"/>
                <a:ea typeface="Arial"/>
                <a:cs typeface="Arial"/>
              </a:defRPr>
            </a:pPr>
            <a:r>
              <a:rPr sz="1875" b="1">
                <a:solidFill>
                  <a:srgbClr val="087F80"/>
                </a:solidFill>
                <a:latin typeface="Arial"/>
                <a:ea typeface="Arial"/>
                <a:cs typeface="Arial"/>
              </a:rPr>
              <a:t>Delegering</a:t>
            </a:r>
          </a:p>
        </p:txBody>
      </p:sp>
      <p:sp>
        <p:nvSpPr>
          <p:cNvPr id="9" name="">
            <a:extLst xmlns:a="http://schemas.openxmlformats.org/drawingml/2006/main">
              <a:ext uri="{FF2B5EF4-FFF2-40B4-BE49-F238E27FC236}">
                <a16:creationId xmlns:a16="http://schemas.microsoft.com/office/drawing/2014/main" id="{046F072A-86B0-4B29-8365-DEEED6BEAC79}"/>
              </a:ext>
            </a:extLst>
          </p:cNvPr>
          <p:cNvSpPr>
            <a:spLocks xmlns:a="http://schemas.openxmlformats.org/drawingml/2006/main" noGrp="1"/>
          </p:cNvSpPr>
          <p:nvPr/>
        </p:nvSpPr>
        <p:spPr>
          <a:xfrm xmlns:a="http://schemas.openxmlformats.org/drawingml/2006/main">
            <a:off x="3571875" y="4857750"/>
            <a:ext cx="7762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548"/>
                </a:solidFill>
                <a:latin typeface="Arial"/>
                <a:ea typeface="Arial"/>
                <a:cs typeface="Arial"/>
              </a:defRPr>
            </a:pPr>
            <a:r>
              <a:rPr sz="2175" b="0">
                <a:solidFill>
                  <a:srgbClr val="163548"/>
                </a:solidFill>
                <a:latin typeface="Arial"/>
                <a:ea typeface="Arial"/>
                <a:cs typeface="Arial"/>
              </a:rPr>
              <a:t>Tilgangene delegeres i en egen operasjon etter opprettelsen.</a:t>
            </a:r>
          </a:p>
        </p:txBody>
      </p:sp>
    </p:spTree>
    <p:extLst>
      <p:ext uri="{BB962C8B-B14F-4D97-AF65-F5344CB8AC3E}">
        <p14:creationId xmlns:p14="http://schemas.microsoft.com/office/powerpoint/2010/main" val="556150409"/>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36AC192-5461-4F16-8E35-FD67D892313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63548"/>
                </a:solidFill>
                <a:latin typeface="Arial"/>
                <a:ea typeface="Arial"/>
                <a:cs typeface="Arial"/>
              </a:defRPr>
            </a:pPr>
            <a:r>
              <a:rPr sz="3450" b="1">
                <a:solidFill>
                  <a:srgbClr val="163548"/>
                </a:solidFill>
                <a:latin typeface="Arial"/>
                <a:ea typeface="Arial"/>
                <a:cs typeface="Arial"/>
              </a:rPr>
              <a:t>«Fri»: fordeler og ulemper</a:t>
            </a:r>
          </a:p>
        </p:txBody>
      </p:sp>
      <p:sp>
        <p:nvSpPr>
          <p:cNvPr id="2" name="">
            <a:extLst xmlns:a="http://schemas.openxmlformats.org/drawingml/2006/main">
              <a:ext uri="{FF2B5EF4-FFF2-40B4-BE49-F238E27FC236}">
                <a16:creationId xmlns:a16="http://schemas.microsoft.com/office/drawing/2014/main" id="{FD8E57FD-3846-43AE-AD91-8A7B8E201DEB}"/>
              </a:ext>
            </a:extLst>
          </p:cNvPr>
          <p:cNvSpPr>
            <a:spLocks xmlns:a="http://schemas.openxmlformats.org/drawingml/2006/main" noGrp="1"/>
          </p:cNvSpPr>
          <p:nvPr/>
        </p:nvSpPr>
        <p:spPr>
          <a:xfrm xmlns:a="http://schemas.openxmlformats.org/drawingml/2006/main">
            <a:off x="609600" y="14382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674"/>
                </a:solidFill>
                <a:latin typeface="Arial"/>
                <a:ea typeface="Arial"/>
                <a:cs typeface="Arial"/>
              </a:defRPr>
            </a:pPr>
            <a:r>
              <a:rPr sz="1875" b="0">
                <a:solidFill>
                  <a:srgbClr val="526674"/>
                </a:solidFill>
                <a:latin typeface="Arial"/>
                <a:ea typeface="Arial"/>
                <a:cs typeface="Arial"/>
              </a:rPr>
              <a:t>Separat delegering gir fleksibilitet og krever riktige valg av tilgang.</a:t>
            </a:r>
          </a:p>
        </p:txBody>
      </p:sp>
      <p:sp>
        <p:nvSpPr>
          <p:cNvPr id="3" name="">
            <a:extLst xmlns:a="http://schemas.openxmlformats.org/drawingml/2006/main">
              <a:ext uri="{FF2B5EF4-FFF2-40B4-BE49-F238E27FC236}">
                <a16:creationId xmlns:a16="http://schemas.microsoft.com/office/drawing/2014/main" id="{0A150FBB-0F7E-4C0C-B102-F9F91A209701}"/>
              </a:ext>
            </a:extLst>
          </p:cNvPr>
          <p:cNvSpPr>
            <a:spLocks xmlns:a="http://schemas.openxmlformats.org/drawingml/2006/main" noGrp="1"/>
          </p:cNvSpPr>
          <p:nvPr/>
        </p:nvSpPr>
        <p:spPr>
          <a:xfrm xmlns:a="http://schemas.openxmlformats.org/drawingml/2006/main">
            <a:off x="609600" y="2305050"/>
            <a:ext cx="5105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0"/>
                </a:solidFill>
                <a:latin typeface="Arial"/>
                <a:ea typeface="Arial"/>
                <a:cs typeface="Arial"/>
              </a:defRPr>
            </a:pPr>
            <a:r>
              <a:rPr sz="2400" b="1">
                <a:solidFill>
                  <a:srgbClr val="087F80"/>
                </a:solidFill>
                <a:latin typeface="Arial"/>
                <a:ea typeface="Arial"/>
                <a:cs typeface="Arial"/>
              </a:rPr>
              <a:t>Fordeler</a:t>
            </a:r>
          </a:p>
        </p:txBody>
      </p:sp>
      <p:sp>
        <p:nvSpPr>
          <p:cNvPr id="4" name="">
            <a:extLst xmlns:a="http://schemas.openxmlformats.org/drawingml/2006/main">
              <a:ext uri="{FF2B5EF4-FFF2-40B4-BE49-F238E27FC236}">
                <a16:creationId xmlns:a16="http://schemas.microsoft.com/office/drawing/2014/main" id="{2C59E271-CECC-4289-8BA1-C77F45E0FEE3}"/>
              </a:ext>
            </a:extLst>
          </p:cNvPr>
          <p:cNvSpPr>
            <a:spLocks xmlns:a="http://schemas.openxmlformats.org/drawingml/2006/main" noGrp="1"/>
          </p:cNvSpPr>
          <p:nvPr/>
        </p:nvSpPr>
        <p:spPr>
          <a:xfrm xmlns:a="http://schemas.openxmlformats.org/drawingml/2006/main">
            <a:off x="6477000" y="2305050"/>
            <a:ext cx="5105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34C24"/>
                </a:solidFill>
                <a:latin typeface="Arial"/>
                <a:ea typeface="Arial"/>
                <a:cs typeface="Arial"/>
              </a:defRPr>
            </a:pPr>
            <a:r>
              <a:rPr sz="2400" b="1">
                <a:solidFill>
                  <a:srgbClr val="A34C24"/>
                </a:solidFill>
                <a:latin typeface="Arial"/>
                <a:ea typeface="Arial"/>
                <a:cs typeface="Arial"/>
              </a:rPr>
              <a:t>Ulemper ved feil delegering</a:t>
            </a:r>
          </a:p>
        </p:txBody>
      </p:sp>
      <p:sp>
        <p:nvSpPr>
          <p:cNvPr id="5" name="">
            <a:extLst xmlns:a="http://schemas.openxmlformats.org/drawingml/2006/main">
              <a:ext uri="{FF2B5EF4-FFF2-40B4-BE49-F238E27FC236}">
                <a16:creationId xmlns:a16="http://schemas.microsoft.com/office/drawing/2014/main" id="{6BE01313-336E-4EF3-9450-EE39EC8B6FE4}"/>
              </a:ext>
            </a:extLst>
          </p:cNvPr>
          <p:cNvSpPr>
            <a:spLocks xmlns:a="http://schemas.openxmlformats.org/drawingml/2006/main" noGrp="1"/>
          </p:cNvSpPr>
          <p:nvPr/>
        </p:nvSpPr>
        <p:spPr>
          <a:xfrm xmlns:a="http://schemas.openxmlformats.org/drawingml/2006/main">
            <a:off x="609600" y="3086100"/>
            <a:ext cx="5105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3548"/>
                </a:solidFill>
                <a:latin typeface="Arial"/>
                <a:ea typeface="Arial"/>
                <a:cs typeface="Arial"/>
              </a:defRPr>
            </a:pPr>
            <a:r>
              <a:rPr sz="2025" b="1">
                <a:solidFill>
                  <a:srgbClr val="163548"/>
                </a:solidFill>
                <a:latin typeface="Arial"/>
                <a:ea typeface="Arial"/>
                <a:cs typeface="Arial"/>
              </a:rPr>
              <a:t>Ulike klienttyper</a:t>
            </a:r>
          </a:p>
        </p:txBody>
      </p:sp>
      <p:sp>
        <p:nvSpPr>
          <p:cNvPr id="6" name="">
            <a:extLst xmlns:a="http://schemas.openxmlformats.org/drawingml/2006/main">
              <a:ext uri="{FF2B5EF4-FFF2-40B4-BE49-F238E27FC236}">
                <a16:creationId xmlns:a16="http://schemas.microsoft.com/office/drawing/2014/main" id="{B62E519C-859A-4C36-9FFF-2CB5364D9AB4}"/>
              </a:ext>
            </a:extLst>
          </p:cNvPr>
          <p:cNvSpPr>
            <a:spLocks xmlns:a="http://schemas.openxmlformats.org/drawingml/2006/main" noGrp="1"/>
          </p:cNvSpPr>
          <p:nvPr/>
        </p:nvSpPr>
        <p:spPr>
          <a:xfrm xmlns:a="http://schemas.openxmlformats.org/drawingml/2006/main">
            <a:off x="609600" y="3590925"/>
            <a:ext cx="4905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548"/>
                </a:solidFill>
                <a:latin typeface="Arial"/>
                <a:ea typeface="Arial"/>
                <a:cs typeface="Arial"/>
              </a:defRPr>
            </a:pPr>
            <a:r>
              <a:rPr sz="2175" b="0">
                <a:solidFill>
                  <a:srgbClr val="163548"/>
                </a:solidFill>
                <a:latin typeface="Arial"/>
                <a:ea typeface="Arial"/>
                <a:cs typeface="Arial"/>
              </a:rPr>
              <a:t>Forskjellige typer klienter kan knyttes til samme systembruker.</a:t>
            </a:r>
          </a:p>
        </p:txBody>
      </p:sp>
      <p:sp>
        <p:nvSpPr>
          <p:cNvPr id="7" name="">
            <a:extLst xmlns:a="http://schemas.openxmlformats.org/drawingml/2006/main">
              <a:ext uri="{FF2B5EF4-FFF2-40B4-BE49-F238E27FC236}">
                <a16:creationId xmlns:a16="http://schemas.microsoft.com/office/drawing/2014/main" id="{D84E0596-6BFE-46FA-BE24-1988FBD67AF7}"/>
              </a:ext>
            </a:extLst>
          </p:cNvPr>
          <p:cNvSpPr>
            <a:spLocks xmlns:a="http://schemas.openxmlformats.org/drawingml/2006/main" noGrp="1"/>
          </p:cNvSpPr>
          <p:nvPr/>
        </p:nvSpPr>
        <p:spPr>
          <a:xfrm xmlns:a="http://schemas.openxmlformats.org/drawingml/2006/main">
            <a:off x="6477000" y="3086100"/>
            <a:ext cx="5105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3548"/>
                </a:solidFill>
                <a:latin typeface="Arial"/>
                <a:ea typeface="Arial"/>
                <a:cs typeface="Arial"/>
              </a:defRPr>
            </a:pPr>
            <a:r>
              <a:rPr sz="2025" b="1">
                <a:solidFill>
                  <a:srgbClr val="163548"/>
                </a:solidFill>
                <a:latin typeface="Arial"/>
                <a:ea typeface="Arial"/>
                <a:cs typeface="Arial"/>
              </a:rPr>
              <a:t>For lite tilgang</a:t>
            </a:r>
          </a:p>
        </p:txBody>
      </p:sp>
      <p:sp>
        <p:nvSpPr>
          <p:cNvPr id="8" name="">
            <a:extLst xmlns:a="http://schemas.openxmlformats.org/drawingml/2006/main">
              <a:ext uri="{FF2B5EF4-FFF2-40B4-BE49-F238E27FC236}">
                <a16:creationId xmlns:a16="http://schemas.microsoft.com/office/drawing/2014/main" id="{7477E383-DFAB-48E4-8DAF-2FA5BA938104}"/>
              </a:ext>
            </a:extLst>
          </p:cNvPr>
          <p:cNvSpPr>
            <a:spLocks xmlns:a="http://schemas.openxmlformats.org/drawingml/2006/main" noGrp="1"/>
          </p:cNvSpPr>
          <p:nvPr/>
        </p:nvSpPr>
        <p:spPr>
          <a:xfrm xmlns:a="http://schemas.openxmlformats.org/drawingml/2006/main">
            <a:off x="6477000" y="3590925"/>
            <a:ext cx="4905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548"/>
                </a:solidFill>
                <a:latin typeface="Arial"/>
                <a:ea typeface="Arial"/>
                <a:cs typeface="Arial"/>
              </a:defRPr>
            </a:pPr>
            <a:r>
              <a:rPr sz="2175" b="0">
                <a:solidFill>
                  <a:srgbClr val="163548"/>
                </a:solidFill>
                <a:latin typeface="Arial"/>
                <a:ea typeface="Arial"/>
                <a:cs typeface="Arial"/>
              </a:rPr>
              <a:t>Systemet kan mangle rettigheter til å utføre oppgavene sine.</a:t>
            </a:r>
          </a:p>
        </p:txBody>
      </p:sp>
      <p:sp>
        <p:nvSpPr>
          <p:cNvPr id="9" name="">
            <a:extLst xmlns:a="http://schemas.openxmlformats.org/drawingml/2006/main">
              <a:ext uri="{FF2B5EF4-FFF2-40B4-BE49-F238E27FC236}">
                <a16:creationId xmlns:a16="http://schemas.microsoft.com/office/drawing/2014/main" id="{ABF4677F-8102-4621-866C-6DE8257A6E6F}"/>
              </a:ext>
            </a:extLst>
          </p:cNvPr>
          <p:cNvSpPr>
            <a:spLocks xmlns:a="http://schemas.openxmlformats.org/drawingml/2006/main" noGrp="1"/>
          </p:cNvSpPr>
          <p:nvPr/>
        </p:nvSpPr>
        <p:spPr>
          <a:xfrm xmlns:a="http://schemas.openxmlformats.org/drawingml/2006/main">
            <a:off x="609600" y="48577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3548"/>
                </a:solidFill>
                <a:latin typeface="Arial"/>
                <a:ea typeface="Arial"/>
                <a:cs typeface="Arial"/>
              </a:defRPr>
            </a:pPr>
            <a:r>
              <a:rPr sz="2025" b="1">
                <a:solidFill>
                  <a:srgbClr val="163548"/>
                </a:solidFill>
                <a:latin typeface="Arial"/>
                <a:ea typeface="Arial"/>
                <a:cs typeface="Arial"/>
              </a:rPr>
              <a:t>Klienter og egen virksomhet</a:t>
            </a:r>
          </a:p>
        </p:txBody>
      </p:sp>
      <p:sp>
        <p:nvSpPr>
          <p:cNvPr id="10" name="">
            <a:extLst xmlns:a="http://schemas.openxmlformats.org/drawingml/2006/main">
              <a:ext uri="{FF2B5EF4-FFF2-40B4-BE49-F238E27FC236}">
                <a16:creationId xmlns:a16="http://schemas.microsoft.com/office/drawing/2014/main" id="{3CEC8CF2-A93C-4B0D-B39A-791EFAEF5732}"/>
              </a:ext>
            </a:extLst>
          </p:cNvPr>
          <p:cNvSpPr>
            <a:spLocks xmlns:a="http://schemas.openxmlformats.org/drawingml/2006/main" noGrp="1"/>
          </p:cNvSpPr>
          <p:nvPr/>
        </p:nvSpPr>
        <p:spPr>
          <a:xfrm xmlns:a="http://schemas.openxmlformats.org/drawingml/2006/main">
            <a:off x="609600" y="5362575"/>
            <a:ext cx="5143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548"/>
                </a:solidFill>
                <a:latin typeface="Arial"/>
                <a:ea typeface="Arial"/>
                <a:cs typeface="Arial"/>
              </a:defRPr>
            </a:pPr>
            <a:r>
              <a:rPr sz="2175" b="0">
                <a:solidFill>
                  <a:srgbClr val="163548"/>
                </a:solidFill>
                <a:latin typeface="Arial"/>
                <a:ea typeface="Arial"/>
                <a:cs typeface="Arial"/>
              </a:rPr>
              <a:t>Samme systembruker kan brukes for både klientene og egen virksomhet.</a:t>
            </a:r>
          </a:p>
        </p:txBody>
      </p:sp>
      <p:sp>
        <p:nvSpPr>
          <p:cNvPr id="11" name="">
            <a:extLst xmlns:a="http://schemas.openxmlformats.org/drawingml/2006/main">
              <a:ext uri="{FF2B5EF4-FFF2-40B4-BE49-F238E27FC236}">
                <a16:creationId xmlns:a16="http://schemas.microsoft.com/office/drawing/2014/main" id="{2D9AFBBB-928E-4866-9AC5-E0C425C45EFB}"/>
              </a:ext>
            </a:extLst>
          </p:cNvPr>
          <p:cNvSpPr>
            <a:spLocks xmlns:a="http://schemas.openxmlformats.org/drawingml/2006/main" noGrp="1"/>
          </p:cNvSpPr>
          <p:nvPr/>
        </p:nvSpPr>
        <p:spPr>
          <a:xfrm xmlns:a="http://schemas.openxmlformats.org/drawingml/2006/main">
            <a:off x="6477000" y="4857750"/>
            <a:ext cx="5105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3548"/>
                </a:solidFill>
                <a:latin typeface="Arial"/>
                <a:ea typeface="Arial"/>
                <a:cs typeface="Arial"/>
              </a:defRPr>
            </a:pPr>
            <a:r>
              <a:rPr sz="2025" b="1">
                <a:solidFill>
                  <a:srgbClr val="163548"/>
                </a:solidFill>
                <a:latin typeface="Arial"/>
                <a:ea typeface="Arial"/>
                <a:cs typeface="Arial"/>
              </a:rPr>
              <a:t>For mye tilgang</a:t>
            </a:r>
          </a:p>
        </p:txBody>
      </p:sp>
      <p:sp>
        <p:nvSpPr>
          <p:cNvPr id="12" name="">
            <a:extLst xmlns:a="http://schemas.openxmlformats.org/drawingml/2006/main">
              <a:ext uri="{FF2B5EF4-FFF2-40B4-BE49-F238E27FC236}">
                <a16:creationId xmlns:a16="http://schemas.microsoft.com/office/drawing/2014/main" id="{A60EFDF1-0CC8-41E2-BAA5-2B2DB009386A}"/>
              </a:ext>
            </a:extLst>
          </p:cNvPr>
          <p:cNvSpPr>
            <a:spLocks xmlns:a="http://schemas.openxmlformats.org/drawingml/2006/main" noGrp="1"/>
          </p:cNvSpPr>
          <p:nvPr/>
        </p:nvSpPr>
        <p:spPr>
          <a:xfrm xmlns:a="http://schemas.openxmlformats.org/drawingml/2006/main">
            <a:off x="6477000" y="5362575"/>
            <a:ext cx="4905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548"/>
                </a:solidFill>
                <a:latin typeface="Arial"/>
                <a:ea typeface="Arial"/>
                <a:cs typeface="Arial"/>
              </a:defRPr>
            </a:pPr>
            <a:r>
              <a:rPr sz="2175" b="0">
                <a:solidFill>
                  <a:srgbClr val="163548"/>
                </a:solidFill>
                <a:latin typeface="Arial"/>
                <a:ea typeface="Arial"/>
                <a:cs typeface="Arial"/>
              </a:rPr>
              <a:t>Systemet kan få flere rettigheter enn det trenger.</a:t>
            </a:r>
          </a:p>
        </p:txBody>
      </p:sp>
      <p:sp>
        <p:nvSpPr>
          <p:cNvPr id="13" name="">
            <a:extLst xmlns:a="http://schemas.openxmlformats.org/drawingml/2006/main">
              <a:ext uri="{FF2B5EF4-FFF2-40B4-BE49-F238E27FC236}">
                <a16:creationId xmlns:a16="http://schemas.microsoft.com/office/drawing/2014/main" id="{BFEF0A49-8031-4B06-96F9-4D9D94A45446}"/>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74"/>
                </a:solidFill>
                <a:latin typeface="Arial"/>
                <a:ea typeface="Arial"/>
                <a:cs typeface="Arial"/>
              </a:defRPr>
            </a:pPr>
            <a:r>
              <a:rPr sz="1350" b="0">
                <a:solidFill>
                  <a:srgbClr val="526674"/>
                </a:solidFill>
                <a:latin typeface="Arial"/>
                <a:ea typeface="Arial"/>
                <a:cs typeface="Arial"/>
              </a:rPr>
              <a:t>08</a:t>
            </a:r>
          </a:p>
        </p:txBody>
      </p:sp>
    </p:spTree>
    <p:extLst>
      <p:ext uri="{BB962C8B-B14F-4D97-AF65-F5344CB8AC3E}">
        <p14:creationId xmlns:p14="http://schemas.microsoft.com/office/powerpoint/2010/main" val="1145750368"/>
      </p:ext>
    </p:extLst>
  </p:cSld>
</p:sld>
</file>

<file path=ppt/slides/slide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AB3D0B-08F8-457B-91F8-1F9EEC75DEA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548"/>
                </a:solidFill>
                <a:latin typeface="Arial"/>
                <a:ea typeface="Arial"/>
                <a:cs typeface="Arial"/>
              </a:defRPr>
            </a:pPr>
            <a:r>
              <a:rPr sz="3450" b="1">
                <a:solidFill>
                  <a:srgbClr val="163548"/>
                </a:solidFill>
                <a:latin typeface="Arial"/>
                <a:ea typeface="Arial"/>
                <a:cs typeface="Arial"/>
              </a:rPr>
              <a:t>Frittstående og «fri»</a:t>
            </a:r>
          </a:p>
        </p:txBody>
      </p:sp>
      <p:sp>
        <p:nvSpPr>
          <p:cNvPr id="2" name="">
            <a:extLst xmlns:a="http://schemas.openxmlformats.org/drawingml/2006/main">
              <a:ext uri="{FF2B5EF4-FFF2-40B4-BE49-F238E27FC236}">
                <a16:creationId xmlns:a16="http://schemas.microsoft.com/office/drawing/2014/main" id="{493D9C01-A2C6-4D42-BA54-0B8ECA81CDD1}"/>
              </a:ext>
            </a:extLst>
          </p:cNvPr>
          <p:cNvSpPr>
            <a:spLocks xmlns:a="http://schemas.openxmlformats.org/drawingml/2006/main" noGrp="1"/>
          </p:cNvSpPr>
          <p:nvPr/>
        </p:nvSpPr>
        <p:spPr>
          <a:xfrm xmlns:a="http://schemas.openxmlformats.org/drawingml/2006/main">
            <a:off x="609600" y="14382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674"/>
                </a:solidFill>
                <a:latin typeface="Arial"/>
                <a:ea typeface="Arial"/>
                <a:cs typeface="Arial"/>
              </a:defRPr>
            </a:pPr>
            <a:r>
              <a:rPr sz="1875" b="0">
                <a:solidFill>
                  <a:srgbClr val="526674"/>
                </a:solidFill>
                <a:latin typeface="Arial"/>
                <a:ea typeface="Arial"/>
                <a:cs typeface="Arial"/>
              </a:rPr>
              <a:t>Begge skiller opprettelse fra delegering. Systemtilknytningen skiller dem.</a:t>
            </a:r>
          </a:p>
        </p:txBody>
      </p:sp>
      <p:sp>
        <p:nvSpPr>
          <p:cNvPr id="3" name="">
            <a:extLst xmlns:a="http://schemas.openxmlformats.org/drawingml/2006/main">
              <a:ext uri="{FF2B5EF4-FFF2-40B4-BE49-F238E27FC236}">
                <a16:creationId xmlns:a16="http://schemas.microsoft.com/office/drawing/2014/main" id="{29FD0111-FD40-498B-A432-92598716D4B4}"/>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674"/>
                </a:solidFill>
                <a:latin typeface="Arial"/>
                <a:ea typeface="Arial"/>
                <a:cs typeface="Arial"/>
              </a:defRPr>
            </a:pPr>
            <a:r>
              <a:rPr sz="1350" b="0">
                <a:solidFill>
                  <a:srgbClr val="526674"/>
                </a:solidFill>
                <a:latin typeface="Arial"/>
                <a:ea typeface="Arial"/>
                <a:cs typeface="Arial"/>
              </a:rPr>
              <a:t>09</a:t>
            </a:r>
          </a:p>
        </p:txBody>
      </p:sp>
      <p:graphicFrame>
        <p:nvGraphicFramePr>
          <p:cNvPr id="11" name=""/>
          <p:cNvGraphicFramePr/>
          <p:nvPr/>
        </p:nvGraphicFramePr>
        <p:xfrm>
          <a:off xmlns:a="http://schemas.openxmlformats.org/drawingml/2006/main" x="609600" y="2133600"/>
          <a:ext xmlns:a="http://schemas.openxmlformats.org/drawingml/2006/main" cx="10972800" cy="3600450"/>
        </p:xfrm>
        <a:graphic xmlns:a="http://schemas.openxmlformats.org/drawingml/2006/main">
          <a:graphicData uri="http://schemas.openxmlformats.org/drawingml/2006/table">
            <a:tbl>
              <a:tblPr/>
              <a:tblGrid>
                <a:gridCol w="2438400"/>
                <a:gridCol w="4143375"/>
                <a:gridCol w="4391025"/>
              </a:tblGrid>
              <a:tr h="609600">
                <a:tc>
                  <a:txBody>
                    <a:bodyPr/>
                    <a:lstStyle/>
                    <a:p>
                      <a:r>
                        <a:rPr sz="1800" b="1">
                          <a:solidFill>
                            <a:srgbClr val="FFFFFF"/>
                          </a:solidFill>
                          <a:latin typeface="Arial"/>
                          <a:ea typeface="Arial"/>
                          <a:cs typeface="Arial"/>
                        </a:rPr>
                        <a:t/>
                      </a:r>
                    </a:p>
                  </a:txBody>
                  <a:tcPr marL="91440" marR="91440" marT="45720" marB="45720">
                    <a:solidFill>
                      <a:srgbClr val="102C40"/>
                    </a:solidFill>
                  </a:tcPr>
                </a:tc>
                <a:tc>
                  <a:txBody>
                    <a:bodyPr/>
                    <a:lstStyle/>
                    <a:p>
                      <a:r>
                        <a:rPr sz="1800" b="1">
                          <a:solidFill>
                            <a:srgbClr val="FFFFFF"/>
                          </a:solidFill>
                          <a:latin typeface="Arial"/>
                          <a:ea typeface="Arial"/>
                          <a:cs typeface="Arial"/>
                        </a:rPr>
                        <a:t>Frittstående (standAlone)</a:t>
                      </a:r>
                    </a:p>
                  </a:txBody>
                  <a:tcPr marL="91440" marR="91440" marT="45720" marB="45720">
                    <a:solidFill>
                      <a:srgbClr val="102C40"/>
                    </a:solidFill>
                  </a:tcPr>
                </a:tc>
                <a:tc>
                  <a:txBody>
                    <a:bodyPr/>
                    <a:lstStyle/>
                    <a:p>
                      <a:r>
                        <a:rPr sz="1800" b="1">
                          <a:solidFill>
                            <a:srgbClr val="FFFFFF"/>
                          </a:solidFill>
                          <a:latin typeface="Arial"/>
                          <a:ea typeface="Arial"/>
                          <a:cs typeface="Arial"/>
                        </a:rPr>
                        <a:t>Systemtilknyttet uten krav («fri»)</a:t>
                      </a:r>
                    </a:p>
                  </a:txBody>
                  <a:tcPr marL="91440" marR="91440" marT="45720" marB="45720">
                    <a:solidFill>
                      <a:srgbClr val="102C40"/>
                    </a:solidFill>
                  </a:tcPr>
                </a:tc>
              </a:tr>
              <a:tr h="747713">
                <a:tc>
                  <a:txBody>
                    <a:bodyPr/>
                    <a:lstStyle/>
                    <a:p>
                      <a:r>
                        <a:rPr sz="1800" b="1">
                          <a:solidFill>
                            <a:srgbClr val="163548"/>
                          </a:solidFill>
                          <a:latin typeface="Arial"/>
                          <a:ea typeface="Arial"/>
                          <a:cs typeface="Arial"/>
                        </a:rPr>
                        <a:t>Utgangspunkt</a:t>
                      </a:r>
                    </a:p>
                  </a:txBody>
                  <a:tcPr marL="91440" marR="91440" marT="45720" marB="45720">
                    <a:solidFill>
                      <a:srgbClr val="FFFFFF"/>
                    </a:solidFill>
                  </a:tcPr>
                </a:tc>
                <a:tc>
                  <a:txBody>
                    <a:bodyPr/>
                    <a:lstStyle/>
                    <a:p>
                      <a:r>
                        <a:rPr sz="1800" b="0">
                          <a:solidFill>
                            <a:srgbClr val="163548"/>
                          </a:solidFill>
                          <a:latin typeface="Arial"/>
                          <a:ea typeface="Arial"/>
                          <a:cs typeface="Arial"/>
                        </a:rPr>
                        <a:t>Egen organisasjon</a:t>
                      </a:r>
                    </a:p>
                  </a:txBody>
                  <a:tcPr marL="91440" marR="91440" marT="45720" marB="45720">
                    <a:solidFill>
                      <a:srgbClr val="FFFFFF"/>
                    </a:solidFill>
                  </a:tcPr>
                </a:tc>
                <a:tc>
                  <a:txBody>
                    <a:bodyPr/>
                    <a:lstStyle/>
                    <a:p>
                      <a:r>
                        <a:rPr sz="1800" b="0">
                          <a:solidFill>
                            <a:srgbClr val="163548"/>
                          </a:solidFill>
                          <a:latin typeface="Arial"/>
                          <a:ea typeface="Arial"/>
                          <a:cs typeface="Arial"/>
                        </a:rPr>
                        <a:t>Et system i systemregisteret</a:t>
                      </a:r>
                    </a:p>
                  </a:txBody>
                  <a:tcPr marL="91440" marR="91440" marT="45720" marB="45720">
                    <a:solidFill>
                      <a:srgbClr val="FFFFFF"/>
                    </a:solidFill>
                  </a:tcPr>
                </a:tc>
              </a:tr>
              <a:tr h="747713">
                <a:tc>
                  <a:txBody>
                    <a:bodyPr/>
                    <a:lstStyle/>
                    <a:p>
                      <a:r>
                        <a:rPr sz="1800" b="1">
                          <a:solidFill>
                            <a:srgbClr val="163548"/>
                          </a:solidFill>
                          <a:latin typeface="Arial"/>
                          <a:ea typeface="Arial"/>
                          <a:cs typeface="Arial"/>
                        </a:rPr>
                        <a:t>Forhåndsdefinerte</a:t>
                      </a:r>
                    </a:p>
                    <a:p>
                      <a:r>
                        <a:rPr sz="1800" b="1">
                          <a:solidFill>
                            <a:srgbClr val="163548"/>
                          </a:solidFill>
                          <a:latin typeface="Arial"/>
                          <a:ea typeface="Arial"/>
                          <a:cs typeface="Arial"/>
                        </a:rPr>
                        <a:t>rettigheter</a:t>
                      </a:r>
                    </a:p>
                  </a:txBody>
                  <a:tcPr marL="91440" marR="91440" marT="45720" marB="45720">
                    <a:solidFill>
                      <a:srgbClr val="E6F0ED"/>
                    </a:solidFill>
                  </a:tcPr>
                </a:tc>
                <a:tc>
                  <a:txBody>
                    <a:bodyPr/>
                    <a:lstStyle/>
                    <a:p>
                      <a:r>
                        <a:rPr sz="1800" b="0">
                          <a:solidFill>
                            <a:srgbClr val="163548"/>
                          </a:solidFill>
                          <a:latin typeface="Arial"/>
                          <a:ea typeface="Arial"/>
                          <a:cs typeface="Arial"/>
                        </a:rPr>
                        <a:t>Ingen rettighetsprofil som</a:t>
                      </a:r>
                    </a:p>
                    <a:p>
                      <a:r>
                        <a:rPr sz="1800" b="0">
                          <a:solidFill>
                            <a:srgbClr val="163548"/>
                          </a:solidFill>
                          <a:latin typeface="Arial"/>
                          <a:ea typeface="Arial"/>
                          <a:cs typeface="Arial"/>
                        </a:rPr>
                        <a:t>bestemmer delegeringen</a:t>
                      </a:r>
                    </a:p>
                  </a:txBody>
                  <a:tcPr marL="91440" marR="91440" marT="45720" marB="45720">
                    <a:solidFill>
                      <a:srgbClr val="E6F0ED"/>
                    </a:solidFill>
                  </a:tcPr>
                </a:tc>
                <a:tc>
                  <a:txBody>
                    <a:bodyPr/>
                    <a:lstStyle/>
                    <a:p>
                      <a:r>
                        <a:rPr sz="1800" b="0">
                          <a:solidFill>
                            <a:srgbClr val="163548"/>
                          </a:solidFill>
                          <a:latin typeface="Arial"/>
                          <a:ea typeface="Arial"/>
                          <a:cs typeface="Arial"/>
                        </a:rPr>
                        <a:t>Systemet kan ha definerte tilganger.</a:t>
                      </a:r>
                    </a:p>
                    <a:p>
                      <a:r>
                        <a:rPr sz="1800" b="0">
                          <a:solidFill>
                            <a:srgbClr val="163548"/>
                          </a:solidFill>
                          <a:latin typeface="Arial"/>
                          <a:ea typeface="Arial"/>
                          <a:cs typeface="Arial"/>
                        </a:rPr>
                        <a:t>De tildeles ikke ved opprettelse.</a:t>
                      </a:r>
                    </a:p>
                  </a:txBody>
                  <a:tcPr marL="91440" marR="91440" marT="45720" marB="45720">
                    <a:solidFill>
                      <a:srgbClr val="E6F0ED"/>
                    </a:solidFill>
                  </a:tcPr>
                </a:tc>
              </a:tr>
              <a:tr h="747713">
                <a:tc>
                  <a:txBody>
                    <a:bodyPr/>
                    <a:lstStyle/>
                    <a:p>
                      <a:r>
                        <a:rPr sz="1800" b="1">
                          <a:solidFill>
                            <a:srgbClr val="163548"/>
                          </a:solidFill>
                          <a:latin typeface="Arial"/>
                          <a:ea typeface="Arial"/>
                          <a:cs typeface="Arial"/>
                        </a:rPr>
                        <a:t>Videre bruk</a:t>
                      </a:r>
                    </a:p>
                  </a:txBody>
                  <a:tcPr marL="91440" marR="91440" marT="45720" marB="45720">
                    <a:solidFill>
                      <a:srgbClr val="FFFFFF"/>
                    </a:solidFill>
                  </a:tcPr>
                </a:tc>
                <a:tc>
                  <a:txBody>
                    <a:bodyPr/>
                    <a:lstStyle/>
                    <a:p>
                      <a:r>
                        <a:rPr sz="1800" b="0">
                          <a:solidFill>
                            <a:srgbClr val="163548"/>
                          </a:solidFill>
                          <a:latin typeface="Arial"/>
                          <a:ea typeface="Arial"/>
                          <a:cs typeface="Arial"/>
                        </a:rPr>
                        <a:t>Tilgangspakker og enkeltrettigheter</a:t>
                      </a:r>
                    </a:p>
                    <a:p>
                      <a:r>
                        <a:rPr sz="1800" b="0">
                          <a:solidFill>
                            <a:srgbClr val="163548"/>
                          </a:solidFill>
                          <a:latin typeface="Arial"/>
                          <a:ea typeface="Arial"/>
                          <a:cs typeface="Arial"/>
                        </a:rPr>
                        <a:t>via vanlig tilgangsstyring</a:t>
                      </a:r>
                    </a:p>
                  </a:txBody>
                  <a:tcPr marL="91440" marR="91440" marT="45720" marB="45720">
                    <a:solidFill>
                      <a:srgbClr val="FFFFFF"/>
                    </a:solidFill>
                  </a:tcPr>
                </a:tc>
                <a:tc>
                  <a:txBody>
                    <a:bodyPr/>
                    <a:lstStyle/>
                    <a:p>
                      <a:r>
                        <a:rPr sz="1800" b="0">
                          <a:solidFill>
                            <a:srgbClr val="163548"/>
                          </a:solidFill>
                          <a:latin typeface="Arial"/>
                          <a:ea typeface="Arial"/>
                          <a:cs typeface="Arial"/>
                        </a:rPr>
                        <a:t>Tilganger gjennom</a:t>
                      </a:r>
                    </a:p>
                    <a:p>
                      <a:r>
                        <a:rPr sz="1800" b="0">
                          <a:solidFill>
                            <a:srgbClr val="163548"/>
                          </a:solidFill>
                          <a:latin typeface="Arial"/>
                          <a:ea typeface="Arial"/>
                          <a:cs typeface="Arial"/>
                        </a:rPr>
                        <a:t>separat delegering</a:t>
                      </a:r>
                    </a:p>
                  </a:txBody>
                  <a:tcPr marL="91440" marR="91440" marT="45720" marB="45720">
                    <a:solidFill>
                      <a:srgbClr val="FFFFFF"/>
                    </a:solidFill>
                  </a:tcPr>
                </a:tc>
              </a:tr>
              <a:tr h="747713">
                <a:tc>
                  <a:txBody>
                    <a:bodyPr/>
                    <a:lstStyle/>
                    <a:p>
                      <a:r>
                        <a:rPr sz="1800" b="1">
                          <a:solidFill>
                            <a:srgbClr val="163548"/>
                          </a:solidFill>
                          <a:latin typeface="Arial"/>
                          <a:ea typeface="Arial"/>
                          <a:cs typeface="Arial"/>
                        </a:rPr>
                        <a:t>Agentforhold</a:t>
                      </a:r>
                    </a:p>
                  </a:txBody>
                  <a:tcPr marL="91440" marR="91440" marT="45720" marB="45720">
                    <a:solidFill>
                      <a:srgbClr val="E6F0ED"/>
                    </a:solidFill>
                  </a:tcPr>
                </a:tc>
                <a:tc>
                  <a:txBody>
                    <a:bodyPr/>
                    <a:lstStyle/>
                    <a:p>
                      <a:r>
                        <a:rPr sz="1800" b="0">
                          <a:solidFill>
                            <a:srgbClr val="163548"/>
                          </a:solidFill>
                          <a:latin typeface="Arial"/>
                          <a:ea typeface="Arial"/>
                          <a:cs typeface="Arial"/>
                        </a:rPr>
                        <a:t>Kan også brukes i agentforhold</a:t>
                      </a:r>
                    </a:p>
                  </a:txBody>
                  <a:tcPr marL="91440" marR="91440" marT="45720" marB="45720">
                    <a:solidFill>
                      <a:srgbClr val="E6F0ED"/>
                    </a:solidFill>
                  </a:tcPr>
                </a:tc>
                <a:tc>
                  <a:txBody>
                    <a:bodyPr/>
                    <a:lstStyle/>
                    <a:p>
                      <a:r>
                        <a:rPr sz="1800" b="0">
                          <a:solidFill>
                            <a:srgbClr val="163548"/>
                          </a:solidFill>
                          <a:latin typeface="Arial"/>
                          <a:ea typeface="Arial"/>
                          <a:cs typeface="Arial"/>
                        </a:rPr>
                        <a:t>Ulike klienttyper og egen</a:t>
                      </a:r>
                    </a:p>
                    <a:p>
                      <a:r>
                        <a:rPr sz="1800" b="0">
                          <a:solidFill>
                            <a:srgbClr val="163548"/>
                          </a:solidFill>
                          <a:latin typeface="Arial"/>
                          <a:ea typeface="Arial"/>
                          <a:cs typeface="Arial"/>
                        </a:rPr>
                        <a:t>virksomhet på samme bruker</a:t>
                      </a:r>
                    </a:p>
                  </a:txBody>
                  <a:tcPr marL="91440" marR="91440" marT="45720" marB="45720">
                    <a:solidFill>
                      <a:srgbClr val="E6F0ED"/>
                    </a:solidFill>
                  </a:tcPr>
                </a:tc>
              </a:tr>
            </a:tbl>
          </a:graphicData>
        </a:graphic>
      </p:graphicFrame>
      <p:sp>
        <p:nvSpPr>
          <p:cNvPr id="5" name="">
            <a:extLst xmlns:a="http://schemas.openxmlformats.org/drawingml/2006/main">
              <a:ext uri="{FF2B5EF4-FFF2-40B4-BE49-F238E27FC236}">
                <a16:creationId xmlns:a16="http://schemas.microsoft.com/office/drawing/2014/main" id="{A1733FE4-FEC7-49D8-9E45-47968E265ED1}"/>
              </a:ext>
            </a:extLst>
          </p:cNvPr>
          <p:cNvSpPr>
            <a:spLocks xmlns:a="http://schemas.openxmlformats.org/drawingml/2006/main" noGrp="1"/>
          </p:cNvSpPr>
          <p:nvPr/>
        </p:nvSpPr>
        <p:spPr>
          <a:xfrm xmlns:a="http://schemas.openxmlformats.org/drawingml/2006/main">
            <a:off x="609600" y="59436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87F80"/>
                </a:solidFill>
                <a:latin typeface="Arial"/>
                <a:ea typeface="Arial"/>
                <a:cs typeface="Arial"/>
              </a:defRPr>
            </a:pPr>
            <a:r>
              <a:rPr sz="1725" b="1">
                <a:solidFill>
                  <a:srgbClr val="087F80"/>
                </a:solidFill>
                <a:latin typeface="Arial"/>
                <a:ea typeface="Arial"/>
                <a:cs typeface="Arial"/>
              </a:rPr>
              <a:t>Systemets definerte tilganger og systembrukerens faktiske tilganger er forskjellige opplysninger.</a:t>
            </a:r>
          </a:p>
        </p:txBody>
      </p:sp>
    </p:spTree>
    <p:extLst>
      <p:ext uri="{BB962C8B-B14F-4D97-AF65-F5344CB8AC3E}">
        <p14:creationId xmlns:p14="http://schemas.microsoft.com/office/powerpoint/2010/main" val="1257060272"/>
      </p:ext>
    </p:extLst>
  </p:cSld>
</p:sld>
</file>

<file path=ppt/slides/slide10.xml><?xml version="1.0" encoding="utf-8"?>
<p:sld xmlns:p="http://schemas.openxmlformats.org/presentationml/2006/main">
  <p:cSld>
    <p:bg>
      <p:bgPr>
        <a:solidFill xmlns:a="http://schemas.openxmlformats.org/drawingml/2006/main">
          <a:srgbClr val="102C4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055F3D-78BD-4FBA-8700-38937CA3E514}"/>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Typene i bruk</a:t>
            </a:r>
          </a:p>
        </p:txBody>
      </p:sp>
      <p:sp>
        <p:nvSpPr>
          <p:cNvPr id="2" name="">
            <a:extLst xmlns:a="http://schemas.openxmlformats.org/drawingml/2006/main">
              <a:ext uri="{FF2B5EF4-FFF2-40B4-BE49-F238E27FC236}">
                <a16:creationId xmlns:a16="http://schemas.microsoft.com/office/drawing/2014/main" id="{C2DAC392-3934-47D5-BD0C-EBEF7CB3D152}"/>
              </a:ext>
            </a:extLst>
          </p:cNvPr>
          <p:cNvSpPr>
            <a:spLocks xmlns:a="http://schemas.openxmlformats.org/drawingml/2006/main" noGrp="1"/>
          </p:cNvSpPr>
          <p:nvPr/>
        </p:nvSpPr>
        <p:spPr>
          <a:xfrm xmlns:a="http://schemas.openxmlformats.org/drawingml/2006/main">
            <a:off x="609600" y="14382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C4DCD9"/>
                </a:solidFill>
                <a:latin typeface="Arial"/>
                <a:ea typeface="Arial"/>
                <a:cs typeface="Arial"/>
              </a:defRPr>
            </a:pPr>
            <a:r>
              <a:rPr sz="1875" b="0">
                <a:solidFill>
                  <a:srgbClr val="C4DCD9"/>
                </a:solidFill>
                <a:latin typeface="Arial"/>
                <a:ea typeface="Arial"/>
                <a:cs typeface="Arial"/>
              </a:rPr>
              <a:t>Valget avhenger av systemtilknytning og hvordan tilgangene skal delegeres.</a:t>
            </a:r>
          </a:p>
        </p:txBody>
      </p:sp>
      <p:sp>
        <p:nvSpPr>
          <p:cNvPr id="3" name="">
            <a:extLst xmlns:a="http://schemas.openxmlformats.org/drawingml/2006/main">
              <a:ext uri="{FF2B5EF4-FFF2-40B4-BE49-F238E27FC236}">
                <a16:creationId xmlns:a16="http://schemas.microsoft.com/office/drawing/2014/main" id="{FE2008C2-C8EA-48EF-88B6-EB40F6F5B260}"/>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4DCD9"/>
                </a:solidFill>
                <a:latin typeface="Arial"/>
                <a:ea typeface="Arial"/>
                <a:cs typeface="Arial"/>
              </a:defRPr>
            </a:pPr>
            <a:r>
              <a:rPr sz="1350" b="0">
                <a:solidFill>
                  <a:srgbClr val="C4DCD9"/>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C58135E0-4CCE-4441-8166-C9060B279C75}"/>
              </a:ext>
            </a:extLst>
          </p:cNvPr>
          <p:cNvSpPr>
            <a:spLocks xmlns:a="http://schemas.openxmlformats.org/drawingml/2006/main" noGrp="1"/>
          </p:cNvSpPr>
          <p:nvPr/>
        </p:nvSpPr>
        <p:spPr>
          <a:xfrm xmlns:a="http://schemas.openxmlformats.org/drawingml/2006/main">
            <a:off x="609600" y="2266950"/>
            <a:ext cx="357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9CDCD0"/>
                </a:solidFill>
                <a:latin typeface="Arial"/>
                <a:ea typeface="Arial"/>
                <a:cs typeface="Arial"/>
              </a:defRPr>
            </a:pPr>
            <a:r>
              <a:rPr sz="2025" b="1">
                <a:solidFill>
                  <a:srgbClr val="9CDCD0"/>
                </a:solidFill>
                <a:latin typeface="Arial"/>
                <a:ea typeface="Arial"/>
                <a:cs typeface="Arial"/>
              </a:rPr>
              <a:t>Standard</a:t>
            </a:r>
          </a:p>
        </p:txBody>
      </p:sp>
      <p:sp>
        <p:nvSpPr>
          <p:cNvPr id="5" name="">
            <a:extLst xmlns:a="http://schemas.openxmlformats.org/drawingml/2006/main">
              <a:ext uri="{FF2B5EF4-FFF2-40B4-BE49-F238E27FC236}">
                <a16:creationId xmlns:a16="http://schemas.microsoft.com/office/drawing/2014/main" id="{8436131F-9780-47E1-9FFC-FB2B516301AA}"/>
              </a:ext>
            </a:extLst>
          </p:cNvPr>
          <p:cNvSpPr>
            <a:spLocks xmlns:a="http://schemas.openxmlformats.org/drawingml/2006/main" noGrp="1"/>
          </p:cNvSpPr>
          <p:nvPr/>
        </p:nvSpPr>
        <p:spPr>
          <a:xfrm xmlns:a="http://schemas.openxmlformats.org/drawingml/2006/main">
            <a:off x="4476750" y="2266950"/>
            <a:ext cx="685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Egen virksomhet bruker et registrert system og godkjenner de etterspurte tilgangene.</a:t>
            </a:r>
          </a:p>
        </p:txBody>
      </p:sp>
      <p:sp>
        <p:nvSpPr>
          <p:cNvPr id="6" name="">
            <a:extLst xmlns:a="http://schemas.openxmlformats.org/drawingml/2006/main">
              <a:ext uri="{FF2B5EF4-FFF2-40B4-BE49-F238E27FC236}">
                <a16:creationId xmlns:a16="http://schemas.microsoft.com/office/drawing/2014/main" id="{02A43BA6-4A23-4E37-9DF9-944716824802}"/>
              </a:ext>
            </a:extLst>
          </p:cNvPr>
          <p:cNvSpPr>
            <a:spLocks xmlns:a="http://schemas.openxmlformats.org/drawingml/2006/main" noGrp="1"/>
          </p:cNvSpPr>
          <p:nvPr/>
        </p:nvSpPr>
        <p:spPr>
          <a:xfrm xmlns:a="http://schemas.openxmlformats.org/drawingml/2006/main">
            <a:off x="609600" y="3219450"/>
            <a:ext cx="357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9CDCD0"/>
                </a:solidFill>
                <a:latin typeface="Arial"/>
                <a:ea typeface="Arial"/>
                <a:cs typeface="Arial"/>
              </a:defRPr>
            </a:pPr>
            <a:r>
              <a:rPr sz="2025" b="1">
                <a:solidFill>
                  <a:srgbClr val="9CDCD0"/>
                </a:solidFill>
                <a:latin typeface="Arial"/>
                <a:ea typeface="Arial"/>
                <a:cs typeface="Arial"/>
              </a:rPr>
              <a:t>Agent</a:t>
            </a:r>
          </a:p>
        </p:txBody>
      </p:sp>
      <p:sp>
        <p:nvSpPr>
          <p:cNvPr id="7" name="">
            <a:extLst xmlns:a="http://schemas.openxmlformats.org/drawingml/2006/main">
              <a:ext uri="{FF2B5EF4-FFF2-40B4-BE49-F238E27FC236}">
                <a16:creationId xmlns:a16="http://schemas.microsoft.com/office/drawing/2014/main" id="{E439E966-B707-4A84-A93A-E74B8EC1BCD8}"/>
              </a:ext>
            </a:extLst>
          </p:cNvPr>
          <p:cNvSpPr>
            <a:spLocks xmlns:a="http://schemas.openxmlformats.org/drawingml/2006/main" noGrp="1"/>
          </p:cNvSpPr>
          <p:nvPr/>
        </p:nvSpPr>
        <p:spPr>
          <a:xfrm xmlns:a="http://schemas.openxmlformats.org/drawingml/2006/main">
            <a:off x="4476750" y="3219450"/>
            <a:ext cx="685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En tjenesteyter bruker et registrert system på vegne av klienter.</a:t>
            </a:r>
          </a:p>
        </p:txBody>
      </p:sp>
      <p:sp>
        <p:nvSpPr>
          <p:cNvPr id="8" name="">
            <a:extLst xmlns:a="http://schemas.openxmlformats.org/drawingml/2006/main">
              <a:ext uri="{FF2B5EF4-FFF2-40B4-BE49-F238E27FC236}">
                <a16:creationId xmlns:a16="http://schemas.microsoft.com/office/drawing/2014/main" id="{BE38C281-1911-4FD3-88EE-255F1007A5DC}"/>
              </a:ext>
            </a:extLst>
          </p:cNvPr>
          <p:cNvSpPr>
            <a:spLocks xmlns:a="http://schemas.openxmlformats.org/drawingml/2006/main" noGrp="1"/>
          </p:cNvSpPr>
          <p:nvPr/>
        </p:nvSpPr>
        <p:spPr>
          <a:xfrm xmlns:a="http://schemas.openxmlformats.org/drawingml/2006/main">
            <a:off x="609600" y="4171950"/>
            <a:ext cx="357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9CDCD0"/>
                </a:solidFill>
                <a:latin typeface="Arial"/>
                <a:ea typeface="Arial"/>
                <a:cs typeface="Arial"/>
              </a:defRPr>
            </a:pPr>
            <a:r>
              <a:rPr sz="2025" b="1">
                <a:solidFill>
                  <a:srgbClr val="9CDCD0"/>
                </a:solidFill>
                <a:latin typeface="Arial"/>
                <a:ea typeface="Arial"/>
                <a:cs typeface="Arial"/>
              </a:rPr>
              <a:t>Frittstående</a:t>
            </a:r>
          </a:p>
        </p:txBody>
      </p:sp>
      <p:sp>
        <p:nvSpPr>
          <p:cNvPr id="9" name="">
            <a:extLst xmlns:a="http://schemas.openxmlformats.org/drawingml/2006/main">
              <a:ext uri="{FF2B5EF4-FFF2-40B4-BE49-F238E27FC236}">
                <a16:creationId xmlns:a16="http://schemas.microsoft.com/office/drawing/2014/main" id="{4F64BE13-5928-4F70-B481-C52D05D70FCF}"/>
              </a:ext>
            </a:extLst>
          </p:cNvPr>
          <p:cNvSpPr>
            <a:spLocks xmlns:a="http://schemas.openxmlformats.org/drawingml/2006/main" noGrp="1"/>
          </p:cNvSpPr>
          <p:nvPr/>
        </p:nvSpPr>
        <p:spPr>
          <a:xfrm xmlns:a="http://schemas.openxmlformats.org/drawingml/2006/main">
            <a:off x="4476750" y="4171950"/>
            <a:ext cx="685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Virksomheten vil slippe egen systemregistrering og delegere gjennom vanlig tilgangsstyring.</a:t>
            </a:r>
          </a:p>
        </p:txBody>
      </p:sp>
      <p:sp>
        <p:nvSpPr>
          <p:cNvPr id="10" name="">
            <a:extLst xmlns:a="http://schemas.openxmlformats.org/drawingml/2006/main">
              <a:ext uri="{FF2B5EF4-FFF2-40B4-BE49-F238E27FC236}">
                <a16:creationId xmlns:a16="http://schemas.microsoft.com/office/drawing/2014/main" id="{6292912E-1072-4957-A000-9F35F422B491}"/>
              </a:ext>
            </a:extLst>
          </p:cNvPr>
          <p:cNvSpPr>
            <a:spLocks xmlns:a="http://schemas.openxmlformats.org/drawingml/2006/main" noGrp="1"/>
          </p:cNvSpPr>
          <p:nvPr/>
        </p:nvSpPr>
        <p:spPr>
          <a:xfrm xmlns:a="http://schemas.openxmlformats.org/drawingml/2006/main">
            <a:off x="609600" y="5124450"/>
            <a:ext cx="357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9CDCD0"/>
                </a:solidFill>
                <a:latin typeface="Arial"/>
                <a:ea typeface="Arial"/>
                <a:cs typeface="Arial"/>
              </a:defRPr>
            </a:pPr>
            <a:r>
              <a:rPr sz="2025" b="1">
                <a:solidFill>
                  <a:srgbClr val="9CDCD0"/>
                </a:solidFill>
                <a:latin typeface="Arial"/>
                <a:ea typeface="Arial"/>
                <a:cs typeface="Arial"/>
              </a:rPr>
              <a:t>Systemtilknyttet uten krav</a:t>
            </a:r>
          </a:p>
        </p:txBody>
      </p:sp>
      <p:sp>
        <p:nvSpPr>
          <p:cNvPr id="11" name="">
            <a:extLst xmlns:a="http://schemas.openxmlformats.org/drawingml/2006/main">
              <a:ext uri="{FF2B5EF4-FFF2-40B4-BE49-F238E27FC236}">
                <a16:creationId xmlns:a16="http://schemas.microsoft.com/office/drawing/2014/main" id="{F9EDCFEF-3381-4690-94BE-A8B4AAB3A1C4}"/>
              </a:ext>
            </a:extLst>
          </p:cNvPr>
          <p:cNvSpPr>
            <a:spLocks xmlns:a="http://schemas.openxmlformats.org/drawingml/2006/main" noGrp="1"/>
          </p:cNvSpPr>
          <p:nvPr/>
        </p:nvSpPr>
        <p:spPr>
          <a:xfrm xmlns:a="http://schemas.openxmlformats.org/drawingml/2006/main">
            <a:off x="4476750" y="5124450"/>
            <a:ext cx="685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Ulike klienttyper og egen virksomhet på samme bruker. Tilgangene delegeres separat.</a:t>
            </a:r>
          </a:p>
        </p:txBody>
      </p:sp>
    </p:spTree>
    <p:extLst>
      <p:ext uri="{BB962C8B-B14F-4D97-AF65-F5344CB8AC3E}">
        <p14:creationId xmlns:p14="http://schemas.microsoft.com/office/powerpoint/2010/main" val="1914823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2026-09-08T08:31:44.4770000Z</dcterms:created>
  <dcterms:modified xsi:type="dcterms:W3CDTF">2026-09-08T08:31:44.4770000Z</dcterms:modified>
</coreProperties>
</file>